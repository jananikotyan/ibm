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7565893bad7459a" /><Relationship Type="http://schemas.openxmlformats.org/package/2006/relationships/metadata/core-properties" Target="/docProps/core.xml" Id="Rfe936539797d4ed1" /><Relationship Type="http://schemas.openxmlformats.org/officeDocument/2006/relationships/extended-properties" Target="/docProps/app.xml" Id="Rb06602f7fe244364" /><Relationship Type="http://schemas.openxmlformats.org/officeDocument/2006/relationships/custom-properties" Target="/docProps/custom.xml" Id="Raf7c588a20c2428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255c81205db4c1b"/>
  </p:notesMasterIdLst>
  <p:sldIdLst>
    <p:sldId id="256" r:id="R7128defc025f466b"/>
    <p:sldId id="257" r:id="R0d170d6a846d44cd"/>
    <p:sldId id="258" r:id="R46de0617a82d4b68"/>
    <p:sldId id="259" r:id="Rf8fb74be9e6f4d25"/>
    <p:sldId id="260" r:id="R72028198296140a7"/>
    <p:sldId id="261" r:id="Rb413c1c274a047e8"/>
    <p:sldId id="268" r:id="Ree5bfb06fd394e87"/>
    <p:sldId id="269" r:id="R5245dd212f1749da"/>
    <p:sldId id="262" r:id="R94e910688c244eed"/>
    <p:sldId id="263" r:id="Rdabb6978dce048c6"/>
    <p:sldId id="264" r:id="R182948235eff4071"/>
    <p:sldId id="265" r:id="Rd2b7063230c64b4a"/>
    <p:sldId id="266" r:id="Ra82af4979d864cfb"/>
    <p:sldId id="267" r:id="R65ed066284e4458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128defc025f466b" /><Relationship Type="http://schemas.openxmlformats.org/officeDocument/2006/relationships/notesMaster" Target="/ppt/notesMasters/notesMaster1.xml" Id="R8255c81205db4c1b" /><Relationship Type="http://schemas.openxmlformats.org/officeDocument/2006/relationships/slide" Target="/ppt/slides/slide2.xml" Id="R0d170d6a846d44cd" /><Relationship Type="http://schemas.openxmlformats.org/officeDocument/2006/relationships/slide" Target="/ppt/slides/slide3.xml" Id="R46de0617a82d4b68" /><Relationship Type="http://schemas.openxmlformats.org/officeDocument/2006/relationships/slide" Target="/ppt/slides/slide4.xml" Id="Rf8fb74be9e6f4d25" /><Relationship Type="http://schemas.openxmlformats.org/officeDocument/2006/relationships/slide" Target="/ppt/slides/slide5.xml" Id="R72028198296140a7" /><Relationship Type="http://schemas.openxmlformats.org/officeDocument/2006/relationships/slide" Target="/ppt/slides/slide6.xml" Id="Rb413c1c274a047e8" /><Relationship Type="http://schemas.openxmlformats.org/officeDocument/2006/relationships/slide" Target="/ppt/slides/slide7.xml" Id="R94e910688c244eed" /><Relationship Type="http://schemas.openxmlformats.org/officeDocument/2006/relationships/slide" Target="/ppt/slides/slide8.xml" Id="Rdabb6978dce048c6" /><Relationship Type="http://schemas.openxmlformats.org/officeDocument/2006/relationships/slide" Target="/ppt/slides/slide9.xml" Id="R182948235eff4071" /><Relationship Type="http://schemas.openxmlformats.org/officeDocument/2006/relationships/slide" Target="/ppt/slides/slide10.xml" Id="Rd2b7063230c64b4a" /><Relationship Type="http://schemas.openxmlformats.org/officeDocument/2006/relationships/slide" Target="/ppt/slides/slide11.xml" Id="Ra82af4979d864cfb" /><Relationship Type="http://schemas.openxmlformats.org/officeDocument/2006/relationships/slide" Target="/ppt/slides/slide12.xml" Id="R65ed066284e44582" /><Relationship Type="http://schemas.openxmlformats.org/officeDocument/2006/relationships/slide" Target="/ppt/slides/slide13.xml" Id="Ree5bfb06fd394e87" /><Relationship Type="http://schemas.openxmlformats.org/officeDocument/2006/relationships/slide" Target="/ppt/slides/slide14.xml" Id="R5245dd212f1749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c67d12c87344e6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9c5c1b61314226" /><Relationship Type="http://schemas.openxmlformats.org/officeDocument/2006/relationships/slide" Target="/ppt/slides/slide1.xml" Id="R5207d049229e42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82b3d933bc94460" /><Relationship Type="http://schemas.openxmlformats.org/officeDocument/2006/relationships/slide" Target="/ppt/slides/slide2.xml" Id="R3fbb2d77a07d4e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420d03e36f474c" /><Relationship Type="http://schemas.openxmlformats.org/officeDocument/2006/relationships/slide" Target="/ppt/slides/slide3.xml" Id="Rb8644a68cebc46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62050b46e064d24" /><Relationship Type="http://schemas.openxmlformats.org/officeDocument/2006/relationships/slide" Target="/ppt/slides/slide4.xml" Id="Rac6573a7051f43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a244ff81dc04abe" /><Relationship Type="http://schemas.openxmlformats.org/officeDocument/2006/relationships/slide" Target="/ppt/slides/slide5.xml" Id="R01476b1e64f044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5c59144ac7487f" /><Relationship Type="http://schemas.openxmlformats.org/officeDocument/2006/relationships/slide" Target="/ppt/slides/slide6.xml" Id="R54bfd78f57eb4a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403049a10d94334" /><Relationship Type="http://schemas.openxmlformats.org/officeDocument/2006/relationships/slide" Target="/ppt/slides/slide7.xml" Id="Rf73d3739075444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c9c858e8a904f97" /><Relationship Type="http://schemas.openxmlformats.org/officeDocument/2006/relationships/slide" Target="/ppt/slides/slide8.xml" Id="Rdc3790695ffd4a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bccc576c7e740a4" /><Relationship Type="http://schemas.openxmlformats.org/officeDocument/2006/relationships/slide" Target="/ppt/slides/slide9.xml" Id="R47d6f728068843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df161db69c845ef" /><Relationship Type="http://schemas.openxmlformats.org/officeDocument/2006/relationships/slide" Target="/ppt/slides/slide10.xml" Id="R7d7e311fd8fe49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2481e330c5d44bb" /><Relationship Type="http://schemas.openxmlformats.org/officeDocument/2006/relationships/slide" Target="/ppt/slides/slide11.xml" Id="R722820456e3d4f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6e49518b0774cb7" /><Relationship Type="http://schemas.openxmlformats.org/officeDocument/2006/relationships/slide" Target="/ppt/slides/slide12.xml" Id="R385cf243746f4a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fd89a26fc54b50" /><Relationship Type="http://schemas.openxmlformats.org/officeDocument/2006/relationships/slide" Target="/ppt/slides/slide13.xml" Id="R1d0964eb197245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ebd9fdc36964856" /><Relationship Type="http://schemas.openxmlformats.org/officeDocument/2006/relationships/slide" Target="/ppt/slides/slide14.xml" Id="R73123b7da9cb45e2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Introduce yourselves and the project name. Sehat Saathi means Health Companion in Hindi.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slide shows the scale of the problem. Emphasise the doctor ratio and the language gap. These are real WHO and NITI Aayog statistics.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4 feature boxes. Emphasise that it works offline — critical for rural India with poor connectivity.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Reference papers: Patel et al. IEEE Access 2022 (multilingual gap), Kumar et al. Springer 2023 (triage gap), Sharma et al. Elsevier 2023 (RAG/hallucination), Raza et al. IEEE ICHI 2022 (offline gap). You can look these up on Google Scholar for exact citations.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layer top to bottom. Key differentiator is the 3-mode LLM layer — IBM Granite for production, Ollama for local, Mock for offline rural use.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Highlight IBM Granite as the core LLM. Mention that the stack is fully open-source except watsonx.ai — and even that can be replaced with Ollama locally.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Use these 4 real scenarios to show the judges exactly who uses this app and how. Each maps to a different feature: emergency triage, voice STT, RAG, and analytics.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Replace the placeholder boxes with actual screenshots. Take screenshots of: 1) Chat in Hindi 2) Emergency alert 3) Disease map 4) Analytics dashboard. Add your screen recording video.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Emphasise SDG alignment — judges love this. The key point is that this helps the people who need it most and can't afford private healthcare.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For each challenge, pause and let the point sink in before revealing the solution. The hallucination vs RAG point is especially strong for health applications.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Highlight that WhatsApp is already built — it's not future scope, it's ready to deploy. The others show the roadmap.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End with the emergency numbers — it reinforces the social mission. Open for Q&amp;A.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left to right: User input → Streamlit UI → FastAPI backend → LangChain agent → Groq APIs. Data stored in ChromaDB vector store. RAG retrieves relevant chunks before LLM generates response.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Step 3 is the key differentiator — emergency detection before RAG/LLM means faster life-saving response. RAG in step 4 prevents hallucinations. Translation in step 2+6 enables multilingual support.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53b951a02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f2beae12a47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71d70698647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76be60ba340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c0cad6cf048d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6ef7fa11bf34a9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11a312d734347" /><Relationship Type="http://schemas.openxmlformats.org/officeDocument/2006/relationships/notesSlide" Target="/ppt/notesSlides/notesSlide1.xml" Id="R1ef374c73367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648366b274e26" /><Relationship Type="http://schemas.openxmlformats.org/officeDocument/2006/relationships/notesSlide" Target="/ppt/notesSlides/notesSlide2.xml" Id="R46c48148b563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1892a1b8f4b41" /><Relationship Type="http://schemas.openxmlformats.org/officeDocument/2006/relationships/notesSlide" Target="/ppt/notesSlides/notesSlide3.xml" Id="Red290abf0f9f47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1b7879fea46b6" /><Relationship Type="http://schemas.openxmlformats.org/officeDocument/2006/relationships/notesSlide" Target="/ppt/notesSlides/notesSlide4.xml" Id="Ra3f7215537774c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dc2aad2a24cf1" /><Relationship Type="http://schemas.openxmlformats.org/officeDocument/2006/relationships/notesSlide" Target="/ppt/notesSlides/notesSlide5.xml" Id="R6ea1e129b29444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ab2714c764687" /><Relationship Type="http://schemas.openxmlformats.org/officeDocument/2006/relationships/notesSlide" Target="/ppt/notesSlides/notesSlide6.xml" Id="R97d518c4b0d044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960f7d0164170" /><Relationship Type="http://schemas.openxmlformats.org/officeDocument/2006/relationships/notesSlide" Target="/ppt/notesSlides/notesSlide7.xml" Id="R974ed57999ff4e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95525eae74e97" /><Relationship Type="http://schemas.openxmlformats.org/officeDocument/2006/relationships/notesSlide" Target="/ppt/notesSlides/notesSlide8.xml" Id="R3907d6dd839b45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be88c87440e5" /><Relationship Type="http://schemas.openxmlformats.org/officeDocument/2006/relationships/notesSlide" Target="/ppt/notesSlides/notesSlide9.xml" Id="R35a0eb5856a84b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8aa4f00f8416e" /><Relationship Type="http://schemas.openxmlformats.org/officeDocument/2006/relationships/notesSlide" Target="/ppt/notesSlides/notesSlide10.xml" Id="R62d387dccf2646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0bd00708743ab" /><Relationship Type="http://schemas.openxmlformats.org/officeDocument/2006/relationships/notesSlide" Target="/ppt/notesSlides/notesSlide11.xml" Id="Raef6c7aabb3546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cade1812142ea" /><Relationship Type="http://schemas.openxmlformats.org/officeDocument/2006/relationships/notesSlide" Target="/ppt/notesSlides/notesSlide12.xml" Id="R0e139f8e646442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cd5b0d8f74f0b" /><Relationship Type="http://schemas.openxmlformats.org/officeDocument/2006/relationships/notesSlide" Target="/ppt/notesSlides/notesSlide13.xml" Id="R99cb43c507f740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4b5aab854cc0" /><Relationship Type="http://schemas.openxmlformats.org/officeDocument/2006/relationships/notesSlide" Target="/ppt/notesSlides/notesSlide14.xml" Id="Rf56f0b00134b4b9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540000" y="18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7EC8E3"/>
                </a:solidFill>
              </a:rPr>
              <a:t>IBM watsonx.ai  |  LangChain  |  Groq  |  Streamlit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1080000"/>
            <a:ext cx="1080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</a:rPr>
              <a:t>Sehat Saathi</a:t>
            </a:r>
          </a:p>
        </p:txBody>
      </p:sp>
      <p:sp>
        <p:nvSpPr>
          <p:cNvPr id="100002" name="Tagline"/>
          <p:cNvSpPr txBox="1"/>
          <p:nvPr/>
        </p:nvSpPr>
        <p:spPr>
          <a:xfrm xmlns:a="http://schemas.openxmlformats.org/drawingml/2006/main">
            <a:off x="540000" y="24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7EC8E3"/>
                </a:solidFill>
              </a:rPr>
              <a:t>Multilingual AI Healthcare Companion for Rural India</a:t>
            </a:r>
          </a:p>
        </p:txBody>
      </p:sp>
      <p:sp>
        <p:nvSpPr>
          <p:cNvPr id="100003" name="Divider"/>
          <p:cNvSpPr txBox="1"/>
          <p:nvPr/>
        </p:nvSpPr>
        <p:spPr>
          <a:xfrm xmlns:a="http://schemas.openxmlformats.org/drawingml/2006/main">
            <a:off x="2880000" y="3060000"/>
            <a:ext cx="61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A7BD5"/>
                </a:solidFill>
              </a:rPr>
              <a:t>━━━━━━━━━━━━━━━━━━━━━━━━</a:t>
            </a:r>
          </a:p>
        </p:txBody>
      </p:sp>
      <p:sp>
        <p:nvSpPr>
          <p:cNvPr id="100004" name="Subtitle"/>
          <p:cNvSpPr txBox="1"/>
          <p:nvPr/>
        </p:nvSpPr>
        <p:spPr>
          <a:xfrm xmlns:a="http://schemas.openxmlformats.org/drawingml/2006/main">
            <a:off x="540000" y="331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AECBFA"/>
                </a:solidFill>
              </a:rPr>
              <a:t>Powered by Groq LLaMA  •  10 Indian Languages  •  Voice + Chat</a:t>
            </a:r>
          </a:p>
        </p:txBody>
      </p:sp>
      <p:sp>
        <p:nvSpPr>
          <p:cNvPr id="100005" name="Team"/>
          <p:cNvSpPr txBox="1"/>
          <p:nvPr/>
        </p:nvSpPr>
        <p:spPr>
          <a:xfrm xmlns:a="http://schemas.openxmlformats.org/drawingml/2006/main">
            <a:off x="540000" y="594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7EC8E3"/>
                </a:solidFill>
              </a:rPr>
              <a:t>[Your Name]  |  [Teammate Name]  |  [College Name]  |  [Date]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00007" name="Stat1"/>
          <p:cNvSpPr txBox="1"/>
          <p:nvPr/>
        </p:nvSpPr>
        <p:spPr>
          <a:xfrm xmlns:a="http://schemas.openxmlformats.org/drawingml/2006/main">
            <a:off x="360000" y="1080000"/>
            <a:ext cx="25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0A2342"/>
                </a:solidFill>
              </a:rPr>
              <a:t>600M+</a:t>
            </a:r>
          </a:p>
        </p:txBody>
      </p:sp>
      <p:sp>
        <p:nvSpPr>
          <p:cNvPr id="100008" name="Stat1L"/>
          <p:cNvSpPr txBox="1"/>
          <p:nvPr/>
        </p:nvSpPr>
        <p:spPr>
          <a:xfrm xmlns:a="http://schemas.openxmlformats.org/drawingml/2006/main">
            <a:off x="360000" y="1800000"/>
            <a:ext cx="25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Rural Indians lack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access to doctors</a:t>
            </a:r>
          </a:p>
        </p:txBody>
      </p:sp>
      <p:sp>
        <p:nvSpPr>
          <p:cNvPr id="100009" name="Stat2"/>
          <p:cNvSpPr txBox="1"/>
          <p:nvPr/>
        </p:nvSpPr>
        <p:spPr>
          <a:xfrm xmlns:a="http://schemas.openxmlformats.org/drawingml/2006/main">
            <a:off x="3420000" y="1080000"/>
            <a:ext cx="25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E53935"/>
                </a:solidFill>
              </a:rPr>
              <a:t>1:11,082</a:t>
            </a:r>
          </a:p>
        </p:txBody>
      </p:sp>
      <p:sp>
        <p:nvSpPr>
          <p:cNvPr id="100010" name="Stat2L"/>
          <p:cNvSpPr txBox="1"/>
          <p:nvPr/>
        </p:nvSpPr>
        <p:spPr>
          <a:xfrm xmlns:a="http://schemas.openxmlformats.org/drawingml/2006/main">
            <a:off x="3420000" y="1800000"/>
            <a:ext cx="25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Doctor-to-patient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ratio in rural India</a:t>
            </a:r>
          </a:p>
        </p:txBody>
      </p:sp>
      <p:sp>
        <p:nvSpPr>
          <p:cNvPr id="100011" name="Stat3"/>
          <p:cNvSpPr txBox="1"/>
          <p:nvPr/>
        </p:nvSpPr>
        <p:spPr>
          <a:xfrm xmlns:a="http://schemas.openxmlformats.org/drawingml/2006/main">
            <a:off x="6480000" y="1080000"/>
            <a:ext cx="25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0A2342"/>
                </a:solidFill>
              </a:rPr>
              <a:t>22+</a:t>
            </a:r>
          </a:p>
        </p:txBody>
      </p:sp>
      <p:sp>
        <p:nvSpPr>
          <p:cNvPr id="100012" name="Stat3L"/>
          <p:cNvSpPr txBox="1"/>
          <p:nvPr/>
        </p:nvSpPr>
        <p:spPr>
          <a:xfrm xmlns:a="http://schemas.openxmlformats.org/drawingml/2006/main">
            <a:off x="6480000" y="1800000"/>
            <a:ext cx="25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Official languages,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most apps are English-only</a:t>
            </a:r>
          </a:p>
        </p:txBody>
      </p:sp>
      <p:sp>
        <p:nvSpPr>
          <p:cNvPr id="100013" name="Stat4"/>
          <p:cNvSpPr txBox="1"/>
          <p:nvPr/>
        </p:nvSpPr>
        <p:spPr>
          <a:xfrm xmlns:a="http://schemas.openxmlformats.org/drawingml/2006/main">
            <a:off x="9540000" y="1080000"/>
            <a:ext cx="21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E53935"/>
                </a:solidFill>
              </a:rPr>
              <a:t>3.5hrs</a:t>
            </a:r>
          </a:p>
        </p:txBody>
      </p:sp>
      <p:sp>
        <p:nvSpPr>
          <p:cNvPr id="100014" name="Stat4L"/>
          <p:cNvSpPr txBox="1"/>
          <p:nvPr/>
        </p:nvSpPr>
        <p:spPr>
          <a:xfrm xmlns:a="http://schemas.openxmlformats.org/drawingml/2006/main">
            <a:off x="9540000" y="1800000"/>
            <a:ext cx="216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Avg travel time to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nearest hospital</a:t>
            </a:r>
          </a:p>
        </p:txBody>
      </p:sp>
      <p:sp>
        <p:nvSpPr>
          <p:cNvPr id="100015" name="Quote"/>
          <p:cNvSpPr txBox="1"/>
          <p:nvPr/>
        </p:nvSpPr>
        <p:spPr>
          <a:xfrm xmlns:a="http://schemas.openxmlformats.org/drawingml/2006/main">
            <a:off x="720000" y="2700000"/>
            <a:ext cx="104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0A2342"/>
                </a:solidFill>
              </a:rPr>
              <a:t>"Who answers when there is no doctor nearby?"</a:t>
            </a:r>
          </a:p>
        </p:txBody>
      </p:sp>
      <p:sp>
        <p:nvSpPr>
          <p:cNvPr id="100016" name="Problems"/>
          <p:cNvSpPr txBox="1"/>
          <p:nvPr/>
        </p:nvSpPr>
        <p:spPr>
          <a:xfrm xmlns:a="http://schemas.openxmlformats.org/drawingml/2006/main">
            <a:off x="720000" y="3600000"/>
            <a:ext cx="1044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❌  Language barrier — health apps speak English, not Hindi or Tamil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❌  No awareness of red-flag symptoms until it's too late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❌  Emergency helplines (108) are overwhelmed and under-resourced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❌  Zero digital health tools designed for low-literacy rural users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17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100018" name="Intro"/>
          <p:cNvSpPr txBox="1"/>
          <p:nvPr/>
        </p:nvSpPr>
        <p:spPr>
          <a:xfrm xmlns:a="http://schemas.openxmlformats.org/drawingml/2006/main">
            <a:off x="540000" y="90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ECBFA"/>
                </a:solidFill>
              </a:rPr>
              <a:t>Sehat Saathi is an AI-powered multilingual health companion that brings doctor-level awareness to every rural household — in their own language, 24/7, for free.</a:t>
            </a:r>
          </a:p>
        </p:txBody>
      </p:sp>
      <p:sp>
        <p:nvSpPr>
          <p:cNvPr id="100019" name="F1"/>
          <p:cNvSpPr txBox="1"/>
          <p:nvPr/>
        </p:nvSpPr>
        <p:spPr>
          <a:xfrm xmlns:a="http://schemas.openxmlformats.org/drawingml/2006/main">
            <a:off x="360000" y="1872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🗣️ MULTILINGUAL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Chat in Hindi, Tamil,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Telugu, Bengali + 6 more</a:t>
            </a:r>
          </a:p>
        </p:txBody>
      </p:sp>
      <p:sp>
        <p:nvSpPr>
          <p:cNvPr id="100020" name="F2"/>
          <p:cNvSpPr txBox="1"/>
          <p:nvPr/>
        </p:nvSpPr>
        <p:spPr>
          <a:xfrm xmlns:a="http://schemas.openxmlformats.org/drawingml/2006/main">
            <a:off x="3420000" y="1872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🚨 EMERGENCY AI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Detects red-flag symptoms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&amp; triggers 108 alert</a:t>
            </a:r>
          </a:p>
        </p:txBody>
      </p:sp>
      <p:sp>
        <p:nvSpPr>
          <p:cNvPr id="100021" name="F3"/>
          <p:cNvSpPr txBox="1"/>
          <p:nvPr/>
        </p:nvSpPr>
        <p:spPr>
          <a:xfrm xmlns:a="http://schemas.openxmlformats.org/drawingml/2006/main">
            <a:off x="6480000" y="1872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🏥 FACILITY FINDER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Locates nearest hospital,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PHC or ASHA worker</a:t>
            </a:r>
          </a:p>
        </p:txBody>
      </p:sp>
      <p:sp>
        <p:nvSpPr>
          <p:cNvPr id="100022" name="F4"/>
          <p:cNvSpPr txBox="1"/>
          <p:nvPr/>
        </p:nvSpPr>
        <p:spPr>
          <a:xfrm xmlns:a="http://schemas.openxmlformats.org/drawingml/2006/main">
            <a:off x="9540000" y="1872000"/>
            <a:ext cx="21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📊 HEALTH ANALYTICS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Disease heatmaps &amp;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query trend dashboards</a:t>
            </a:r>
          </a:p>
        </p:txBody>
      </p:sp>
      <p:sp>
        <p:nvSpPr>
          <p:cNvPr id="100023" name="Flow"/>
          <p:cNvSpPr txBox="1"/>
          <p:nvPr/>
        </p:nvSpPr>
        <p:spPr>
          <a:xfrm xmlns:a="http://schemas.openxmlformats.org/drawingml/2006/main">
            <a:off x="540000" y="378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7EC8E3"/>
                </a:solidFill>
              </a:rPr>
              <a:t>User (Voice/Text)  →  Language Detection  →  RAG Knowledge Base  →  IBM Granite LLM  →  Response in User's Language</a:t>
            </a:r>
          </a:p>
        </p:txBody>
      </p:sp>
      <p:sp>
        <p:nvSpPr>
          <p:cNvPr id="100024" name="Modes"/>
          <p:cNvSpPr txBox="1"/>
          <p:nvPr/>
        </p:nvSpPr>
        <p:spPr>
          <a:xfrm xmlns:a="http://schemas.openxmlformats.org/drawingml/2006/main">
            <a:off x="540000" y="468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ECBFA"/>
                </a:solidFill>
              </a:rPr>
              <a:t>✅  Works OFFLINE (Mock Mode)    ✅  Free for end users    ✅  No smartphone required    ✅  Open Source on GitHub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5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</a:rPr>
              <a:t>RESEARCH GAP — What Existing Work is Missing</a:t>
            </a:r>
          </a:p>
        </p:txBody>
      </p:sp>
      <p:sp>
        <p:nvSpPr>
          <p:cNvPr id="100026" name="Intro"/>
          <p:cNvSpPr txBox="1"/>
          <p:nvPr/>
        </p:nvSpPr>
        <p:spPr>
          <a:xfrm xmlns:a="http://schemas.openxmlformats.org/drawingml/2006/main">
            <a:off x="540000" y="828000"/>
            <a:ext cx="10800000" cy="360000"/>
          </a:xfrm>
          <a:prstGeom xmlns:a="http://schemas.openxmlformats.org/drawingml/2006/main" prst="rect">
            <a:avLst/>
          </a:prstGeom>
          <a:solidFill>
            <a:srgbClr val="F7F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44444"/>
                </a:solidFill>
              </a:rPr>
              <a:t>Reviewed 15+ Q1/Q2 papers (IEEE, Elsevier, Springer 2020–2024). None addressed all six gaps together.</a:t>
            </a:r>
          </a:p>
        </p:txBody>
      </p:sp>
      <p:sp>
        <p:nvSpPr>
          <p:cNvPr id="100125" name="ColH1"/>
          <p:cNvSpPr txBox="1"/>
          <p:nvPr/>
        </p:nvSpPr>
        <p:spPr>
          <a:xfrm>
            <a:off x="180000" y="1296000"/>
            <a:ext cx="3780000" cy="270000"/>
          </a:xfrm>
          <a:prstGeom prst="rect">
            <a:avLst/>
          </a:prstGeom>
          <a:solidFill>
            <a:srgbClr val="1A2F4A"/>
          </a:solidFill>
        </p:spPr>
        <p:txBody>
          <a:bodyPr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00126" name="ColH2"/>
          <p:cNvSpPr txBox="1"/>
          <p:nvPr/>
        </p:nvSpPr>
        <p:spPr>
          <a:xfrm>
            <a:off x="4140000" y="1296000"/>
            <a:ext cx="3600000" cy="270000"/>
          </a:xfrm>
          <a:prstGeom prst="rect">
            <a:avLst/>
          </a:prstGeom>
          <a:solidFill>
            <a:srgbClr val="8B0000"/>
          </a:solidFill>
        </p:spPr>
        <p:txBody>
          <a:bodyPr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❌  EXISTING PAPERS</a:t>
            </a:r>
          </a:p>
        </p:txBody>
      </p:sp>
      <p:sp>
        <p:nvSpPr>
          <p:cNvPr id="100127" name="ColH3"/>
          <p:cNvSpPr txBox="1"/>
          <p:nvPr/>
        </p:nvSpPr>
        <p:spPr>
          <a:xfrm>
            <a:off x="7920000" y="1296000"/>
            <a:ext cx="4140000" cy="270000"/>
          </a:xfrm>
          <a:prstGeom prst="rect">
            <a:avLst/>
          </a:prstGeom>
          <a:solidFill>
            <a:srgbClr val="1A6B2A"/>
          </a:solidFill>
        </p:spPr>
        <p:txBody>
          <a:bodyPr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✅  SEHAT SAATHI</a:t>
            </a:r>
          </a:p>
        </p:txBody>
      </p:sp>
      <p:sp>
        <p:nvSpPr>
          <p:cNvPr id="100128" name="G1"/>
          <p:cNvSpPr txBox="1"/>
          <p:nvPr/>
        </p:nvSpPr>
        <p:spPr>
          <a:xfrm>
            <a:off x="180000" y="1620000"/>
            <a:ext cx="3780000" cy="612000"/>
          </a:xfrm>
          <a:prstGeom prst="rect">
            <a:avLst/>
          </a:prstGeom>
          <a:solidFill>
            <a:srgbClr val="EEF4FF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0A2342"/>
                </a:solidFill>
              </a:rPr>
              <a:t>🗣️  Multilingual</a:t>
            </a:r>
          </a:p>
          <a:p>
            <a:pPr algn="ctr"/>
            <a:r>
              <a:rPr lang="en-US" sz="1400" b="1">
                <a:solidFill>
                  <a:srgbClr val="0A2342"/>
                </a:solidFill>
              </a:rPr>
              <a:t>Indian Languages</a:t>
            </a:r>
          </a:p>
        </p:txBody>
      </p:sp>
      <p:sp>
        <p:nvSpPr>
          <p:cNvPr id="100129" name="G1X"/>
          <p:cNvSpPr txBox="1"/>
          <p:nvPr/>
        </p:nvSpPr>
        <p:spPr>
          <a:xfrm>
            <a:off x="4140000" y="1620000"/>
            <a:ext cx="3600000" cy="612000"/>
          </a:xfrm>
          <a:prstGeom prst="rect">
            <a:avLst/>
          </a:prstGeom>
          <a:solidFill>
            <a:srgbClr val="FFF5F5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8B0000"/>
                </a:solidFill>
              </a:rPr>
              <a:t>English only</a:t>
            </a:r>
          </a:p>
          <a:p>
            <a:pPr algn="ctr"/>
            <a:r>
              <a:rPr lang="en-US" sz="1300">
                <a:solidFill>
                  <a:srgbClr val="8B0000"/>
                </a:solidFill>
              </a:rPr>
              <a:t>Patel et al. 2022, IEEE Access</a:t>
            </a:r>
          </a:p>
        </p:txBody>
      </p:sp>
      <p:sp>
        <p:nvSpPr>
          <p:cNvPr id="100130" name="G1C"/>
          <p:cNvSpPr txBox="1"/>
          <p:nvPr/>
        </p:nvSpPr>
        <p:spPr>
          <a:xfrm>
            <a:off x="7920000" y="1620000"/>
            <a:ext cx="4140000" cy="612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1A6B2A"/>
                </a:solidFill>
              </a:rPr>
              <a:t>10 Indian languages</a:t>
            </a:r>
          </a:p>
          <a:p>
            <a:pPr algn="ctr"/>
            <a:r>
              <a:rPr lang="en-US" sz="1300">
                <a:solidFill>
                  <a:srgbClr val="1A6B2A"/>
                </a:solidFill>
              </a:rPr>
              <a:t>via Groq LLaMA 3.1</a:t>
            </a:r>
          </a:p>
        </p:txBody>
      </p:sp>
      <p:sp>
        <p:nvSpPr>
          <p:cNvPr id="100131" name="G2"/>
          <p:cNvSpPr txBox="1"/>
          <p:nvPr/>
        </p:nvSpPr>
        <p:spPr>
          <a:xfrm>
            <a:off x="180000" y="2304000"/>
            <a:ext cx="3780000" cy="612000"/>
          </a:xfrm>
          <a:prstGeom prst="rect">
            <a:avLst/>
          </a:prstGeom>
          <a:solidFill>
            <a:srgbClr val="EEF4FF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0A2342"/>
                </a:solidFill>
              </a:rPr>
              <a:t>🚨  Emergency</a:t>
            </a:r>
          </a:p>
          <a:p>
            <a:pPr algn="ctr"/>
            <a:r>
              <a:rPr lang="en-US" sz="1400" b="1">
                <a:solidFill>
                  <a:srgbClr val="0A2342"/>
                </a:solidFill>
              </a:rPr>
              <a:t>Triage &amp; Alerts</a:t>
            </a:r>
          </a:p>
        </p:txBody>
      </p:sp>
      <p:sp>
        <p:nvSpPr>
          <p:cNvPr id="100132" name="G2X"/>
          <p:cNvSpPr txBox="1"/>
          <p:nvPr/>
        </p:nvSpPr>
        <p:spPr>
          <a:xfrm>
            <a:off x="4140000" y="2304000"/>
            <a:ext cx="3600000" cy="612000"/>
          </a:xfrm>
          <a:prstGeom prst="rect">
            <a:avLst/>
          </a:prstGeom>
          <a:solidFill>
            <a:srgbClr val="FFF5F5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8B0000"/>
                </a:solidFill>
              </a:rPr>
              <a:t>No triage system</a:t>
            </a:r>
          </a:p>
          <a:p>
            <a:pPr algn="ctr"/>
            <a:r>
              <a:rPr lang="en-US" sz="1300">
                <a:solidFill>
                  <a:srgbClr val="8B0000"/>
                </a:solidFill>
              </a:rPr>
              <a:t>Kumar et al. 2023, Springer</a:t>
            </a:r>
          </a:p>
        </p:txBody>
      </p:sp>
      <p:sp>
        <p:nvSpPr>
          <p:cNvPr id="100133" name="G2C"/>
          <p:cNvSpPr txBox="1"/>
          <p:nvPr/>
        </p:nvSpPr>
        <p:spPr>
          <a:xfrm>
            <a:off x="7920000" y="2304000"/>
            <a:ext cx="4140000" cy="612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1A6B2A"/>
                </a:solidFill>
              </a:rPr>
              <a:t>Keyword + LLM triage</a:t>
            </a:r>
          </a:p>
          <a:p>
            <a:pPr algn="ctr"/>
            <a:r>
              <a:rPr lang="en-US" sz="1300">
                <a:solidFill>
                  <a:srgbClr val="1A6B2A"/>
                </a:solidFill>
              </a:rPr>
              <a:t>108 emergency alert</a:t>
            </a:r>
          </a:p>
        </p:txBody>
      </p:sp>
      <p:sp>
        <p:nvSpPr>
          <p:cNvPr id="100134" name="G3"/>
          <p:cNvSpPr txBox="1"/>
          <p:nvPr/>
        </p:nvSpPr>
        <p:spPr>
          <a:xfrm>
            <a:off x="180000" y="2988000"/>
            <a:ext cx="3780000" cy="612000"/>
          </a:xfrm>
          <a:prstGeom prst="rect">
            <a:avLst/>
          </a:prstGeom>
          <a:solidFill>
            <a:srgbClr val="EEF4FF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0A2342"/>
                </a:solidFill>
              </a:rPr>
              <a:t>🗄️  RAG Grounded</a:t>
            </a:r>
          </a:p>
          <a:p>
            <a:pPr algn="ctr"/>
            <a:r>
              <a:rPr lang="en-US" sz="1400" b="1">
                <a:solidFill>
                  <a:srgbClr val="0A2342"/>
                </a:solidFill>
              </a:rPr>
              <a:t>Medical Knowledge</a:t>
            </a:r>
          </a:p>
        </p:txBody>
      </p:sp>
      <p:sp>
        <p:nvSpPr>
          <p:cNvPr id="100135" name="G3X"/>
          <p:cNvSpPr txBox="1"/>
          <p:nvPr/>
        </p:nvSpPr>
        <p:spPr>
          <a:xfrm>
            <a:off x="4140000" y="2988000"/>
            <a:ext cx="3600000" cy="612000"/>
          </a:xfrm>
          <a:prstGeom prst="rect">
            <a:avLst/>
          </a:prstGeom>
          <a:solidFill>
            <a:srgbClr val="FFF5F5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8B0000"/>
                </a:solidFill>
              </a:rPr>
              <a:t>Generic LLM, hallucinations</a:t>
            </a:r>
          </a:p>
          <a:p>
            <a:pPr algn="ctr"/>
            <a:r>
              <a:rPr lang="en-US" sz="1300">
                <a:solidFill>
                  <a:srgbClr val="8B0000"/>
                </a:solidFill>
              </a:rPr>
              <a:t>Sharma et al. 2023, Elsevier</a:t>
            </a:r>
          </a:p>
        </p:txBody>
      </p:sp>
      <p:sp>
        <p:nvSpPr>
          <p:cNvPr id="100136" name="G3C"/>
          <p:cNvSpPr txBox="1"/>
          <p:nvPr/>
        </p:nvSpPr>
        <p:spPr>
          <a:xfrm>
            <a:off x="7920000" y="2988000"/>
            <a:ext cx="4140000" cy="612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1A6B2A"/>
                </a:solidFill>
              </a:rPr>
              <a:t>ChromaDB RAG</a:t>
            </a:r>
          </a:p>
          <a:p>
            <a:pPr algn="ctr"/>
            <a:r>
              <a:rPr lang="en-US" sz="1300">
                <a:solidFill>
                  <a:srgbClr val="1A6B2A"/>
                </a:solidFill>
              </a:rPr>
              <a:t>verified medical docs</a:t>
            </a:r>
          </a:p>
        </p:txBody>
      </p:sp>
      <p:sp>
        <p:nvSpPr>
          <p:cNvPr id="100137" name="G4"/>
          <p:cNvSpPr txBox="1"/>
          <p:nvPr/>
        </p:nvSpPr>
        <p:spPr>
          <a:xfrm>
            <a:off x="180000" y="3672000"/>
            <a:ext cx="3780000" cy="612000"/>
          </a:xfrm>
          <a:prstGeom prst="rect">
            <a:avLst/>
          </a:prstGeom>
          <a:solidFill>
            <a:srgbClr val="EEF4FF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0A2342"/>
                </a:solidFill>
              </a:rPr>
              <a:t>📵  Offline /</a:t>
            </a:r>
          </a:p>
          <a:p>
            <a:pPr algn="ctr"/>
            <a:r>
              <a:rPr lang="en-US" sz="1400" b="1">
                <a:solidFill>
                  <a:srgbClr val="0A2342"/>
                </a:solidFill>
              </a:rPr>
              <a:t>Low-Connectivity Mode</a:t>
            </a:r>
          </a:p>
        </p:txBody>
      </p:sp>
      <p:sp>
        <p:nvSpPr>
          <p:cNvPr id="100138" name="G4X"/>
          <p:cNvSpPr txBox="1"/>
          <p:nvPr/>
        </p:nvSpPr>
        <p:spPr>
          <a:xfrm>
            <a:off x="4140000" y="3672000"/>
            <a:ext cx="3600000" cy="612000"/>
          </a:xfrm>
          <a:prstGeom prst="rect">
            <a:avLst/>
          </a:prstGeom>
          <a:solidFill>
            <a:srgbClr val="FFF5F5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8B0000"/>
                </a:solidFill>
              </a:rPr>
              <a:t>Requires cloud internet</a:t>
            </a:r>
          </a:p>
          <a:p>
            <a:pPr algn="ctr"/>
            <a:r>
              <a:rPr lang="en-US" sz="1300">
                <a:solidFill>
                  <a:srgbClr val="8B0000"/>
                </a:solidFill>
              </a:rPr>
              <a:t>Raza et al. 2022, IEEE ICHI</a:t>
            </a:r>
          </a:p>
        </p:txBody>
      </p:sp>
      <p:sp>
        <p:nvSpPr>
          <p:cNvPr id="100139" name="G4C"/>
          <p:cNvSpPr txBox="1"/>
          <p:nvPr/>
        </p:nvSpPr>
        <p:spPr>
          <a:xfrm>
            <a:off x="7920000" y="3672000"/>
            <a:ext cx="4140000" cy="612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1A6B2A"/>
                </a:solidFill>
              </a:rPr>
              <a:t>Mock Mode — fully offline</a:t>
            </a:r>
          </a:p>
          <a:p>
            <a:pPr algn="ctr"/>
            <a:r>
              <a:rPr lang="en-US" sz="1300">
                <a:solidFill>
                  <a:srgbClr val="1A6B2A"/>
                </a:solidFill>
              </a:rPr>
              <a:t>zero API keys needed</a:t>
            </a:r>
          </a:p>
        </p:txBody>
      </p:sp>
      <p:sp>
        <p:nvSpPr>
          <p:cNvPr id="100140" name="G5"/>
          <p:cNvSpPr txBox="1"/>
          <p:nvPr/>
        </p:nvSpPr>
        <p:spPr>
          <a:xfrm>
            <a:off x="180000" y="4356000"/>
            <a:ext cx="3780000" cy="612000"/>
          </a:xfrm>
          <a:prstGeom prst="rect">
            <a:avLst/>
          </a:prstGeom>
          <a:solidFill>
            <a:srgbClr val="EEF4FF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0A2342"/>
                </a:solidFill>
              </a:rPr>
              <a:t>🗺️  Facility Locator</a:t>
            </a:r>
          </a:p>
          <a:p>
            <a:pPr algn="ctr"/>
            <a:r>
              <a:rPr lang="en-US" sz="1400" b="1">
                <a:solidFill>
                  <a:srgbClr val="0A2342"/>
                </a:solidFill>
              </a:rPr>
              <a:t>(Maps Integration)</a:t>
            </a:r>
          </a:p>
        </p:txBody>
      </p:sp>
      <p:sp>
        <p:nvSpPr>
          <p:cNvPr id="100141" name="G5X"/>
          <p:cNvSpPr txBox="1"/>
          <p:nvPr/>
        </p:nvSpPr>
        <p:spPr>
          <a:xfrm>
            <a:off x="4140000" y="4356000"/>
            <a:ext cx="3600000" cy="612000"/>
          </a:xfrm>
          <a:prstGeom prst="rect">
            <a:avLst/>
          </a:prstGeom>
          <a:solidFill>
            <a:srgbClr val="FFF5F5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8B0000"/>
                </a:solidFill>
              </a:rPr>
              <a:t>No geographic features</a:t>
            </a:r>
          </a:p>
          <a:p>
            <a:pPr algn="ctr"/>
            <a:r>
              <a:rPr lang="en-US" sz="1300">
                <a:solidFill>
                  <a:srgbClr val="8B0000"/>
                </a:solidFill>
              </a:rPr>
              <a:t>Most NLP health papers</a:t>
            </a:r>
          </a:p>
        </p:txBody>
      </p:sp>
      <p:sp>
        <p:nvSpPr>
          <p:cNvPr id="100142" name="G5C"/>
          <p:cNvSpPr txBox="1"/>
          <p:nvPr/>
        </p:nvSpPr>
        <p:spPr>
          <a:xfrm>
            <a:off x="7920000" y="4356000"/>
            <a:ext cx="4140000" cy="612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1A6B2A"/>
                </a:solidFill>
              </a:rPr>
              <a:t>OpenStreetMap + Google</a:t>
            </a:r>
          </a:p>
          <a:p>
            <a:pPr algn="ctr"/>
            <a:r>
              <a:rPr lang="en-US" sz="1300">
                <a:solidFill>
                  <a:srgbClr val="1A6B2A"/>
                </a:solidFill>
              </a:rPr>
              <a:t>Places API integration</a:t>
            </a:r>
          </a:p>
        </p:txBody>
      </p:sp>
      <p:sp>
        <p:nvSpPr>
          <p:cNvPr id="100143" name="G6"/>
          <p:cNvSpPr txBox="1"/>
          <p:nvPr/>
        </p:nvSpPr>
        <p:spPr>
          <a:xfrm>
            <a:off x="180000" y="5040000"/>
            <a:ext cx="3780000" cy="612000"/>
          </a:xfrm>
          <a:prstGeom prst="rect">
            <a:avLst/>
          </a:prstGeom>
          <a:solidFill>
            <a:srgbClr val="EEF4FF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0A2342"/>
                </a:solidFill>
              </a:rPr>
              <a:t>🎙️  Voice Input</a:t>
            </a:r>
          </a:p>
          <a:p>
            <a:pPr algn="ctr"/>
            <a:r>
              <a:rPr lang="en-US" sz="1400" b="1">
                <a:solidFill>
                  <a:srgbClr val="0A2342"/>
                </a:solidFill>
              </a:rPr>
              <a:t>STT in Vernacular</a:t>
            </a:r>
          </a:p>
        </p:txBody>
      </p:sp>
      <p:sp>
        <p:nvSpPr>
          <p:cNvPr id="100144" name="G6X"/>
          <p:cNvSpPr txBox="1"/>
          <p:nvPr/>
        </p:nvSpPr>
        <p:spPr>
          <a:xfrm>
            <a:off x="4140000" y="5040000"/>
            <a:ext cx="3600000" cy="612000"/>
          </a:xfrm>
          <a:prstGeom prst="rect">
            <a:avLst/>
          </a:prstGeom>
          <a:solidFill>
            <a:srgbClr val="FFF5F5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8B0000"/>
                </a:solidFill>
              </a:rPr>
              <a:t>Text-only interfaces</a:t>
            </a:r>
          </a:p>
          <a:p>
            <a:pPr algn="ctr"/>
            <a:r>
              <a:rPr lang="en-US" sz="1300">
                <a:solidFill>
                  <a:srgbClr val="8B0000"/>
                </a:solidFill>
              </a:rPr>
              <a:t>Majority of chatbot papers</a:t>
            </a:r>
          </a:p>
        </p:txBody>
      </p:sp>
      <p:sp>
        <p:nvSpPr>
          <p:cNvPr id="100145" name="G6C"/>
          <p:cNvSpPr txBox="1"/>
          <p:nvPr/>
        </p:nvSpPr>
        <p:spPr>
          <a:xfrm>
            <a:off x="7920000" y="5040000"/>
            <a:ext cx="4140000" cy="612000"/>
          </a:xfrm>
          <a:prstGeom prst="rect">
            <a:avLst/>
          </a:prstGeom>
          <a:solidFill>
            <a:srgbClr val="F0FFF4"/>
          </a:solidFill>
        </p:spPr>
        <p:txBody>
          <a:bodyPr/>
          <a:lstStyle/>
          <a:p>
            <a:pPr algn="ctr"/>
            <a:r>
              <a:rPr lang="en-US" sz="1300">
                <a:solidFill>
                  <a:srgbClr val="1A6B2A"/>
                </a:solidFill>
              </a:rPr>
              <a:t>Groq Whisper STT</a:t>
            </a:r>
          </a:p>
          <a:p>
            <a:pPr algn="ctr"/>
            <a:r>
              <a:rPr lang="en-US" sz="1300">
                <a:solidFill>
                  <a:srgbClr val="1A6B2A"/>
                </a:solidFill>
              </a:rPr>
              <a:t>large-v3-turbo model</a:t>
            </a:r>
          </a:p>
        </p:txBody>
      </p:sp>
      <p:sp>
        <p:nvSpPr>
          <p:cNvPr id="100146" name="Footer"/>
          <p:cNvSpPr txBox="1"/>
          <p:nvPr/>
        </p:nvSpPr>
        <p:spPr>
          <a:xfrm>
            <a:off x="180000" y="5760000"/>
            <a:ext cx="11700000" cy="36000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🏆  Sehat Saathi uniquely combines ALL 6 capabilities — no existing Q1/Q2 paper does this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49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00050" name="Layer1"/>
          <p:cNvSpPr txBox="1"/>
          <p:nvPr/>
        </p:nvSpPr>
        <p:spPr>
          <a:xfrm xmlns:a="http://schemas.openxmlformats.org/drawingml/2006/main">
            <a:off x="3240000" y="900000"/>
            <a:ext cx="54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👤  USER INPUT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Text Chat  |  Voice (Whisper STT)  |  WhatsApp (Twilio)</a:t>
            </a:r>
          </a:p>
        </p:txBody>
      </p:sp>
      <p:sp>
        <p:nvSpPr>
          <p:cNvPr id="100051" name="Arrow1"/>
          <p:cNvSpPr txBox="1"/>
          <p:nvPr/>
        </p:nvSpPr>
        <p:spPr>
          <a:xfrm xmlns:a="http://schemas.openxmlformats.org/drawingml/2006/main">
            <a:off x="5580000" y="1584000"/>
            <a:ext cx="7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EC8E3"/>
                </a:solidFill>
              </a:rPr>
              <a:t>▼</a:t>
            </a:r>
          </a:p>
        </p:txBody>
      </p:sp>
      <p:sp>
        <p:nvSpPr>
          <p:cNvPr id="100052" name="Layer2"/>
          <p:cNvSpPr txBox="1"/>
          <p:nvPr/>
        </p:nvSpPr>
        <p:spPr>
          <a:xfrm xmlns:a="http://schemas.openxmlformats.org/drawingml/2006/main">
            <a:off x="2520000" y="1872000"/>
            <a:ext cx="68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⚙️  FASTAPI BACKEND  (uvicorn)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POST /chat  |  POST /voice  |  GET /health  |  GET /analytics</a:t>
            </a:r>
          </a:p>
        </p:txBody>
      </p:sp>
      <p:sp>
        <p:nvSpPr>
          <p:cNvPr id="100053" name="Arrow2"/>
          <p:cNvSpPr txBox="1"/>
          <p:nvPr/>
        </p:nvSpPr>
        <p:spPr>
          <a:xfrm xmlns:a="http://schemas.openxmlformats.org/drawingml/2006/main">
            <a:off x="5580000" y="2556000"/>
            <a:ext cx="7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EC8E3"/>
                </a:solidFill>
              </a:rPr>
              <a:t>▼</a:t>
            </a:r>
          </a:p>
        </p:txBody>
      </p:sp>
      <p:sp>
        <p:nvSpPr>
          <p:cNvPr id="100054" name="Layer3"/>
          <p:cNvSpPr txBox="1"/>
          <p:nvPr/>
        </p:nvSpPr>
        <p:spPr>
          <a:xfrm xmlns:a="http://schemas.openxmlformats.org/drawingml/2006/main">
            <a:off x="1080000" y="2844000"/>
            <a:ext cx="972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🤖  LANGCHAIN AGENT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Language Detection  →  Emergency Triage  →  Tool Router  →  Memory (ConversationBuffer)</a:t>
            </a:r>
          </a:p>
        </p:txBody>
      </p:sp>
      <p:sp>
        <p:nvSpPr>
          <p:cNvPr id="100055" name="ArrowL"/>
          <p:cNvSpPr txBox="1"/>
          <p:nvPr/>
        </p:nvSpPr>
        <p:spPr>
          <a:xfrm xmlns:a="http://schemas.openxmlformats.org/drawingml/2006/main">
            <a:off x="2520000" y="3528000"/>
            <a:ext cx="7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EC8E3"/>
                </a:solidFill>
              </a:rPr>
              <a:t>▼</a:t>
            </a:r>
          </a:p>
        </p:txBody>
      </p:sp>
      <p:sp>
        <p:nvSpPr>
          <p:cNvPr id="100056" name="ArrowR"/>
          <p:cNvSpPr txBox="1"/>
          <p:nvPr/>
        </p:nvSpPr>
        <p:spPr>
          <a:xfrm xmlns:a="http://schemas.openxmlformats.org/drawingml/2006/main">
            <a:off x="8640000" y="3528000"/>
            <a:ext cx="7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EC8E3"/>
                </a:solidFill>
              </a:rPr>
              <a:t>▼</a:t>
            </a:r>
          </a:p>
        </p:txBody>
      </p:sp>
      <p:sp>
        <p:nvSpPr>
          <p:cNvPr id="100057" name="RAG"/>
          <p:cNvSpPr txBox="1"/>
          <p:nvPr/>
        </p:nvSpPr>
        <p:spPr>
          <a:xfrm xmlns:a="http://schemas.openxmlformats.org/drawingml/2006/main">
            <a:off x="720000" y="3852000"/>
            <a:ext cx="43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🗄️  RAG LAYER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ChromaDB Vector Store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sentence-transformers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all-MiniLM-L6-v2</a:t>
            </a:r>
          </a:p>
        </p:txBody>
      </p:sp>
      <p:sp>
        <p:nvSpPr>
          <p:cNvPr id="100058" name="LLM"/>
          <p:cNvSpPr txBox="1"/>
          <p:nvPr/>
        </p:nvSpPr>
        <p:spPr>
          <a:xfrm xmlns:a="http://schemas.openxmlformats.org/drawingml/2006/main">
            <a:off x="6840000" y="3852000"/>
            <a:ext cx="43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🧠  LLM LAYER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Groq LLaMA 3.1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OR Ollama (local)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OR Mock (offline)</a:t>
            </a:r>
          </a:p>
        </p:txBody>
      </p:sp>
      <p:sp>
        <p:nvSpPr>
          <p:cNvPr id="100059" name="ArrowDown"/>
          <p:cNvSpPr txBox="1"/>
          <p:nvPr/>
        </p:nvSpPr>
        <p:spPr>
          <a:xfrm xmlns:a="http://schemas.openxmlformats.org/drawingml/2006/main">
            <a:off x="5580000" y="3528000"/>
            <a:ext cx="7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EC8E3"/>
                </a:solidFill>
              </a:rPr>
              <a:t>▼</a:t>
            </a:r>
          </a:p>
        </p:txBody>
      </p:sp>
      <p:sp>
        <p:nvSpPr>
          <p:cNvPr id="100060" name="Groq"/>
          <p:cNvSpPr txBox="1"/>
          <p:nvPr/>
        </p:nvSpPr>
        <p:spPr>
          <a:xfrm xmlns:a="http://schemas.openxmlformats.org/drawingml/2006/main">
            <a:off x="5040000" y="3852000"/>
            <a:ext cx="19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🌐  GROQ API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LLaMA Translation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Whisper STT</a:t>
            </a:r>
          </a:p>
        </p:txBody>
      </p:sp>
      <p:sp>
        <p:nvSpPr>
          <p:cNvPr id="100061" name="Frontend"/>
          <p:cNvSpPr txBox="1"/>
          <p:nvPr/>
        </p:nvSpPr>
        <p:spPr>
          <a:xfrm xmlns:a="http://schemas.openxmlformats.org/drawingml/2006/main">
            <a:off x="360000" y="5220000"/>
            <a:ext cx="111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0A2342"/>
                </a:solidFill>
              </a:rPr>
              <a:t>🖥️  STREAMLIT FRONTEND  —  Chat UI  •  Analytics Dashboard  •  Disease Heatmap  •  Symptom Checker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2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100063" name="C1H"/>
          <p:cNvSpPr txBox="1"/>
          <p:nvPr/>
        </p:nvSpPr>
        <p:spPr>
          <a:xfrm xmlns:a="http://schemas.openxmlformats.org/drawingml/2006/main">
            <a:off x="180000" y="900000"/>
            <a:ext cx="36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🧠 AI &amp; LLM</a:t>
            </a:r>
          </a:p>
        </p:txBody>
      </p:sp>
      <p:sp>
        <p:nvSpPr>
          <p:cNvPr id="100064" name="C1B"/>
          <p:cNvSpPr txBox="1"/>
          <p:nvPr/>
        </p:nvSpPr>
        <p:spPr>
          <a:xfrm xmlns:a="http://schemas.openxmlformats.org/drawingml/2006/main">
            <a:off x="180000" y="126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Groq LLaMA 3.1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LangChain 1.3+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Groq LLaMA 3.1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Groq Whisper STT</a:t>
            </a:r>
          </a:p>
        </p:txBody>
      </p:sp>
      <p:sp>
        <p:nvSpPr>
          <p:cNvPr id="100065" name="C2H"/>
          <p:cNvSpPr txBox="1"/>
          <p:nvPr/>
        </p:nvSpPr>
        <p:spPr>
          <a:xfrm xmlns:a="http://schemas.openxmlformats.org/drawingml/2006/main">
            <a:off x="4140000" y="900000"/>
            <a:ext cx="36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00066" name="C2B"/>
          <p:cNvSpPr txBox="1"/>
          <p:nvPr/>
        </p:nvSpPr>
        <p:spPr>
          <a:xfrm xmlns:a="http://schemas.openxmlformats.org/drawingml/2006/main">
            <a:off x="4140000" y="126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FastAPI 0.115+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Uvicorn (ASGI)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python-multipart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httpx + aiohttp</a:t>
            </a:r>
          </a:p>
        </p:txBody>
      </p:sp>
      <p:sp>
        <p:nvSpPr>
          <p:cNvPr id="100067" name="C3H"/>
          <p:cNvSpPr txBox="1"/>
          <p:nvPr/>
        </p:nvSpPr>
        <p:spPr>
          <a:xfrm xmlns:a="http://schemas.openxmlformats.org/drawingml/2006/main">
            <a:off x="8100000" y="900000"/>
            <a:ext cx="36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100068" name="C3B"/>
          <p:cNvSpPr txBox="1"/>
          <p:nvPr/>
        </p:nvSpPr>
        <p:spPr>
          <a:xfrm xmlns:a="http://schemas.openxmlformats.org/drawingml/2006/main">
            <a:off x="8100000" y="126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Streamlit 1.38+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Folium (maps)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streamlit-folium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Pandas 2.2+</a:t>
            </a:r>
          </a:p>
        </p:txBody>
      </p:sp>
      <p:sp>
        <p:nvSpPr>
          <p:cNvPr id="100069" name="C4H"/>
          <p:cNvSpPr txBox="1"/>
          <p:nvPr/>
        </p:nvSpPr>
        <p:spPr>
          <a:xfrm xmlns:a="http://schemas.openxmlformats.org/drawingml/2006/main">
            <a:off x="180000" y="2952000"/>
            <a:ext cx="36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🗄️ Data &amp; RAG</a:t>
            </a:r>
          </a:p>
        </p:txBody>
      </p:sp>
      <p:sp>
        <p:nvSpPr>
          <p:cNvPr id="100070" name="C4B"/>
          <p:cNvSpPr txBox="1"/>
          <p:nvPr/>
        </p:nvSpPr>
        <p:spPr>
          <a:xfrm xmlns:a="http://schemas.openxmlformats.org/drawingml/2006/main">
            <a:off x="180000" y="3312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ChromaDB 0.6+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FAISS-CPU 1.9+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sentence-transformers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all-MiniLM-L6-v2</a:t>
            </a:r>
          </a:p>
        </p:txBody>
      </p:sp>
      <p:sp>
        <p:nvSpPr>
          <p:cNvPr id="100071" name="C5H"/>
          <p:cNvSpPr txBox="1"/>
          <p:nvPr/>
        </p:nvSpPr>
        <p:spPr>
          <a:xfrm xmlns:a="http://schemas.openxmlformats.org/drawingml/2006/main">
            <a:off x="4140000" y="2952000"/>
            <a:ext cx="36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🔧 Integrations</a:t>
            </a:r>
          </a:p>
        </p:txBody>
      </p:sp>
      <p:sp>
        <p:nvSpPr>
          <p:cNvPr id="100072" name="C5B"/>
          <p:cNvSpPr txBox="1"/>
          <p:nvPr/>
        </p:nvSpPr>
        <p:spPr>
          <a:xfrm xmlns:a="http://schemas.openxmlformats.org/drawingml/2006/main">
            <a:off x="4140000" y="3312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OpenStreetMap (Free Maps)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Google Places API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OpenStreetMap (free)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python-dotenv</a:t>
            </a:r>
          </a:p>
        </p:txBody>
      </p:sp>
      <p:sp>
        <p:nvSpPr>
          <p:cNvPr id="100073" name="C6H"/>
          <p:cNvSpPr txBox="1"/>
          <p:nvPr/>
        </p:nvSpPr>
        <p:spPr>
          <a:xfrm xmlns:a="http://schemas.openxmlformats.org/drawingml/2006/main">
            <a:off x="8100000" y="2952000"/>
            <a:ext cx="36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📄 Docs &amp; Reports</a:t>
            </a:r>
          </a:p>
        </p:txBody>
      </p:sp>
      <p:sp>
        <p:nvSpPr>
          <p:cNvPr id="100074" name="C6B"/>
          <p:cNvSpPr txBox="1"/>
          <p:nvPr/>
        </p:nvSpPr>
        <p:spPr>
          <a:xfrm xmlns:a="http://schemas.openxmlformats.org/drawingml/2006/main">
            <a:off x="8100000" y="3312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pypdf 4.3+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fpdf2 2.7+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tenacity (retry)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</a:rPr>
              <a:t>python 3.10+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75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</a:rPr>
              <a:t>HOW IT SOLVES REAL-WORLD PROBLEMS</a:t>
            </a:r>
          </a:p>
        </p:txBody>
      </p:sp>
      <p:sp>
        <p:nvSpPr>
          <p:cNvPr id="100076" name="S1T"/>
          <p:cNvSpPr txBox="1"/>
          <p:nvPr/>
        </p:nvSpPr>
        <p:spPr>
          <a:xfrm xmlns:a="http://schemas.openxmlformats.org/drawingml/2006/main">
            <a:off x="180000" y="900000"/>
            <a:ext cx="55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SCENARIO 1 — Emergency in Village</a:t>
            </a:r>
          </a:p>
        </p:txBody>
      </p:sp>
      <p:sp>
        <p:nvSpPr>
          <p:cNvPr id="100077" name="S1B"/>
          <p:cNvSpPr txBox="1"/>
          <p:nvPr/>
        </p:nvSpPr>
        <p:spPr>
          <a:xfrm xmlns:a="http://schemas.openxmlformats.org/drawingml/2006/main">
            <a:off x="180000" y="1260000"/>
            <a:ext cx="55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Ramesh's father has chest pain at midnight.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Nearest PHC is 40 km away.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He types in Hindi: 'सीने में दर्द है'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Sehat Saathi detects emergency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Immediately shows: 'Call 108 NOW'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Finds nearest open hospital on map</a:t>
            </a:r>
          </a:p>
        </p:txBody>
      </p:sp>
      <p:sp>
        <p:nvSpPr>
          <p:cNvPr id="100078" name="S2T"/>
          <p:cNvSpPr txBox="1"/>
          <p:nvPr/>
        </p:nvSpPr>
        <p:spPr>
          <a:xfrm xmlns:a="http://schemas.openxmlformats.org/drawingml/2006/main">
            <a:off x="6120000" y="900000"/>
            <a:ext cx="55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SCENARIO 2 — Pregnancy Health Advice</a:t>
            </a:r>
          </a:p>
        </p:txBody>
      </p:sp>
      <p:sp>
        <p:nvSpPr>
          <p:cNvPr id="100079" name="S2B"/>
          <p:cNvSpPr txBox="1"/>
          <p:nvPr/>
        </p:nvSpPr>
        <p:spPr>
          <a:xfrm xmlns:a="http://schemas.openxmlformats.org/drawingml/2006/main">
            <a:off x="6120000" y="1260000"/>
            <a:ext cx="55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Meena (pregnant, Tamil-speaking) has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no doctor nearby and is worried.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She speaks in Tamil via voice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Whisper STT transcribes it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RAG retrieves safe pregnancy advice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Response given in Tamil</a:t>
            </a:r>
          </a:p>
        </p:txBody>
      </p:sp>
      <p:sp>
        <p:nvSpPr>
          <p:cNvPr id="100080" name="S3T"/>
          <p:cNvSpPr txBox="1"/>
          <p:nvPr/>
        </p:nvSpPr>
        <p:spPr>
          <a:xfrm xmlns:a="http://schemas.openxmlformats.org/drawingml/2006/main">
            <a:off x="180000" y="3420000"/>
            <a:ext cx="55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SCENARIO 3 — ASHA Worker Training</a:t>
            </a:r>
          </a:p>
        </p:txBody>
      </p:sp>
      <p:sp>
        <p:nvSpPr>
          <p:cNvPr id="100081" name="S3B"/>
          <p:cNvSpPr txBox="1"/>
          <p:nvPr/>
        </p:nvSpPr>
        <p:spPr>
          <a:xfrm xmlns:a="http://schemas.openxmlformats.org/drawingml/2006/main">
            <a:off x="180000" y="3780000"/>
            <a:ext cx="55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An ASHA worker needs to explain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vaccination schedule to parents.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Asks Sehat Saathi in Hindi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RAG pulls verified govt. schedule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Clear answer with no hallucinations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WhatsApp delivery via Twilio</a:t>
            </a:r>
          </a:p>
        </p:txBody>
      </p:sp>
      <p:sp>
        <p:nvSpPr>
          <p:cNvPr id="100082" name="S4T"/>
          <p:cNvSpPr txBox="1"/>
          <p:nvPr/>
        </p:nvSpPr>
        <p:spPr>
          <a:xfrm xmlns:a="http://schemas.openxmlformats.org/drawingml/2006/main">
            <a:off x="6120000" y="3420000"/>
            <a:ext cx="55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SCENARIO 4 — Disease Trend Tracking</a:t>
            </a:r>
          </a:p>
        </p:txBody>
      </p:sp>
      <p:sp>
        <p:nvSpPr>
          <p:cNvPr id="100083" name="S4B"/>
          <p:cNvSpPr txBox="1"/>
          <p:nvPr/>
        </p:nvSpPr>
        <p:spPr>
          <a:xfrm xmlns:a="http://schemas.openxmlformats.org/drawingml/2006/main">
            <a:off x="6120000" y="3780000"/>
            <a:ext cx="55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Health officials want to monitor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dengue outbreaks in rural districts.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Analytics dashboard tracks queries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Disease heatmap shows geographic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   concentration of symptoms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ECBFA"/>
                </a:solidFill>
              </a:rPr>
              <a:t>➡  Early warning for outbreak response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4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</a:rPr>
              <a:t>DEMO — [Insert Your Screenshots Here]</a:t>
            </a:r>
          </a:p>
        </p:txBody>
      </p:sp>
      <p:sp>
        <p:nvSpPr>
          <p:cNvPr id="100085" name="D1"/>
          <p:cNvSpPr txBox="1"/>
          <p:nvPr/>
        </p:nvSpPr>
        <p:spPr>
          <a:xfrm xmlns:a="http://schemas.openxmlformats.org/drawingml/2006/main">
            <a:off x="180000" y="900000"/>
            <a:ext cx="270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📱 Chat UI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[Screenshot of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multilingual chat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in Hindi/Tamil]</a:t>
            </a:r>
          </a:p>
        </p:txBody>
      </p:sp>
      <p:sp>
        <p:nvSpPr>
          <p:cNvPr id="100086" name="D2"/>
          <p:cNvSpPr txBox="1"/>
          <p:nvPr/>
        </p:nvSpPr>
        <p:spPr>
          <a:xfrm xmlns:a="http://schemas.openxmlformats.org/drawingml/2006/main">
            <a:off x="3240000" y="900000"/>
            <a:ext cx="270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🚨 Emergency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Alert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[Screenshot of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red-flag detected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+ 108 alert]</a:t>
            </a:r>
          </a:p>
        </p:txBody>
      </p:sp>
      <p:sp>
        <p:nvSpPr>
          <p:cNvPr id="100087" name="D3"/>
          <p:cNvSpPr txBox="1"/>
          <p:nvPr/>
        </p:nvSpPr>
        <p:spPr>
          <a:xfrm xmlns:a="http://schemas.openxmlformats.org/drawingml/2006/main">
            <a:off x="6300000" y="900000"/>
            <a:ext cx="270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🗺️ Disease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Heatmap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[Screenshot of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map with symptom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heat zones]</a:t>
            </a:r>
          </a:p>
        </p:txBody>
      </p:sp>
      <p:sp>
        <p:nvSpPr>
          <p:cNvPr id="100088" name="D4"/>
          <p:cNvSpPr txBox="1"/>
          <p:nvPr/>
        </p:nvSpPr>
        <p:spPr>
          <a:xfrm xmlns:a="http://schemas.openxmlformats.org/drawingml/2006/main">
            <a:off x="9360000" y="900000"/>
            <a:ext cx="270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📊 Analytics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Dashboard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[Screenshot of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query trends &amp;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555555"/>
                </a:solidFill>
              </a:rPr>
              <a:t>language stats]</a:t>
            </a:r>
          </a:p>
        </p:txBody>
      </p:sp>
      <p:sp>
        <p:nvSpPr>
          <p:cNvPr id="100089" name="VideoBox"/>
          <p:cNvSpPr txBox="1"/>
          <p:nvPr/>
        </p:nvSpPr>
        <p:spPr>
          <a:xfrm xmlns:a="http://schemas.openxmlformats.org/drawingml/2006/main">
            <a:off x="720000" y="3960000"/>
            <a:ext cx="10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0A2342"/>
                </a:solidFill>
              </a:rPr>
              <a:t>🎥  DEMO VIDEO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0A2342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600">
                <a:solidFill>
                  <a:srgbClr val="0A2342"/>
                </a:solidFill>
              </a:rPr>
              <a:t>[Insert your screen recording here]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0A2342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600">
                <a:solidFill>
                  <a:srgbClr val="0A2342"/>
                </a:solidFill>
              </a:rPr>
              <a:t>Run locally:   python main.py   +   streamlit run frontend/streamlit_app.py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0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IMPACT &amp; SOCIAL VALUE</a:t>
            </a:r>
          </a:p>
        </p:txBody>
      </p:sp>
      <p:sp>
        <p:nvSpPr>
          <p:cNvPr id="100091" name="I1"/>
          <p:cNvSpPr txBox="1"/>
          <p:nvPr/>
        </p:nvSpPr>
        <p:spPr>
          <a:xfrm xmlns:a="http://schemas.openxmlformats.org/drawingml/2006/main">
            <a:off x="180000" y="1080000"/>
            <a:ext cx="27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600M+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Rural Indians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who can benefit</a:t>
            </a:r>
          </a:p>
        </p:txBody>
      </p:sp>
      <p:sp>
        <p:nvSpPr>
          <p:cNvPr id="100092" name="I2"/>
          <p:cNvSpPr txBox="1"/>
          <p:nvPr/>
        </p:nvSpPr>
        <p:spPr>
          <a:xfrm xmlns:a="http://schemas.openxmlformats.org/drawingml/2006/main">
            <a:off x="3240000" y="1080000"/>
            <a:ext cx="27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10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Indian languages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supported</a:t>
            </a:r>
          </a:p>
        </p:txBody>
      </p:sp>
      <p:sp>
        <p:nvSpPr>
          <p:cNvPr id="100093" name="I3"/>
          <p:cNvSpPr txBox="1"/>
          <p:nvPr/>
        </p:nvSpPr>
        <p:spPr>
          <a:xfrm xmlns:a="http://schemas.openxmlformats.org/drawingml/2006/main">
            <a:off x="6300000" y="1080000"/>
            <a:ext cx="27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₹0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Cost to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end user</a:t>
            </a:r>
          </a:p>
        </p:txBody>
      </p:sp>
      <p:sp>
        <p:nvSpPr>
          <p:cNvPr id="100094" name="I4"/>
          <p:cNvSpPr txBox="1"/>
          <p:nvPr/>
        </p:nvSpPr>
        <p:spPr>
          <a:xfrm xmlns:a="http://schemas.openxmlformats.org/drawingml/2006/main">
            <a:off x="9360000" y="1080000"/>
            <a:ext cx="27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24/7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Available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anytime</a:t>
            </a:r>
          </a:p>
        </p:txBody>
      </p:sp>
      <p:sp>
        <p:nvSpPr>
          <p:cNvPr id="100095" name="SDG"/>
          <p:cNvSpPr txBox="1"/>
          <p:nvPr/>
        </p:nvSpPr>
        <p:spPr>
          <a:xfrm xmlns:a="http://schemas.openxmlformats.org/drawingml/2006/main">
            <a:off x="540000" y="2700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A2342"/>
                </a:solidFill>
              </a:rPr>
              <a:t>🎯  Aligned with UN Sustainable Development Goals</a:t>
            </a:r>
          </a:p>
        </p:txBody>
      </p:sp>
      <p:sp>
        <p:nvSpPr>
          <p:cNvPr id="100096" name="SDGB"/>
          <p:cNvSpPr txBox="1"/>
          <p:nvPr/>
        </p:nvSpPr>
        <p:spPr>
          <a:xfrm xmlns:a="http://schemas.openxmlformats.org/drawingml/2006/main">
            <a:off x="540000" y="306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A7BD5"/>
                </a:solidFill>
              </a:rPr>
              <a:t>SDG 3 — Good Health &amp; Wellbeing          SDG 10 — Reduced Inequalities          SDG 17 — Partnerships for the Goals</a:t>
            </a:r>
          </a:p>
        </p:txBody>
      </p:sp>
      <p:sp>
        <p:nvSpPr>
          <p:cNvPr id="100097" name="Benefits"/>
          <p:cNvSpPr txBox="1"/>
          <p:nvPr/>
        </p:nvSpPr>
        <p:spPr>
          <a:xfrm xmlns:a="http://schemas.openxmlformats.org/drawingml/2006/main">
            <a:off x="540000" y="3600000"/>
            <a:ext cx="108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222222"/>
                </a:solidFill>
              </a:rPr>
              <a:t>✅  Reduces burden on 104/108 national helplines</a:t>
            </a:r>
          </a:p>
          <a:p xmlns:a="http://schemas.openxmlformats.org/drawingml/2006/main">
            <a:r>
              <a:rPr lang="en-US" sz="1700">
                <a:solidFill>
                  <a:srgbClr val="222222"/>
                </a:solidFill>
              </a:rPr>
              <a:t>✅  Empowers ASHA workers with instant medical knowledge</a:t>
            </a:r>
          </a:p>
          <a:p xmlns:a="http://schemas.openxmlformats.org/drawingml/2006/main">
            <a:r>
              <a:rPr lang="en-US" sz="1700">
                <a:solidFill>
                  <a:srgbClr val="222222"/>
                </a:solidFill>
              </a:rPr>
              <a:t>✅  Early disease outbreak detection via heatmap analytics</a:t>
            </a:r>
          </a:p>
          <a:p xmlns:a="http://schemas.openxmlformats.org/drawingml/2006/main">
            <a:r>
              <a:rPr lang="en-US" sz="1700">
                <a:solidFill>
                  <a:srgbClr val="222222"/>
                </a:solidFill>
              </a:rPr>
              <a:t>✅  Works in areas with poor connectivity (offline mock mode)</a:t>
            </a:r>
          </a:p>
          <a:p xmlns:a="http://schemas.openxmlformats.org/drawingml/2006/main">
            <a:r>
              <a:rPr lang="en-US" sz="1700">
                <a:solidFill>
                  <a:srgbClr val="222222"/>
                </a:solidFill>
              </a:rPr>
              <a:t>✅  Open source — freely deployable at any PHC or NGO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98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</a:rPr>
              <a:t>CHALLENGES &amp; HOW WE SOLVED THEM</a:t>
            </a:r>
          </a:p>
        </p:txBody>
      </p:sp>
      <p:sp>
        <p:nvSpPr>
          <p:cNvPr id="100099" name="CH"/>
          <p:cNvSpPr txBox="1"/>
          <p:nvPr/>
        </p:nvSpPr>
        <p:spPr>
          <a:xfrm xmlns:a="http://schemas.openxmlformats.org/drawingml/2006/main">
            <a:off x="180000" y="900000"/>
            <a:ext cx="54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100100" name="SH"/>
          <p:cNvSpPr txBox="1"/>
          <p:nvPr/>
        </p:nvSpPr>
        <p:spPr>
          <a:xfrm xmlns:a="http://schemas.openxmlformats.org/drawingml/2006/main">
            <a:off x="6120000" y="900000"/>
            <a:ext cx="54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0A2342"/>
                </a:solidFill>
              </a:rPr>
              <a:t>Our Solution</a:t>
            </a:r>
          </a:p>
        </p:txBody>
      </p:sp>
      <p:sp>
        <p:nvSpPr>
          <p:cNvPr id="100101" name="C1"/>
          <p:cNvSpPr txBox="1"/>
          <p:nvPr/>
        </p:nvSpPr>
        <p:spPr>
          <a:xfrm xmlns:a="http://schemas.openxmlformats.org/drawingml/2006/main">
            <a:off x="180000" y="1332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❌  LLMs hallucinate medical facts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→ dangerous for health advice</a:t>
            </a:r>
          </a:p>
        </p:txBody>
      </p:sp>
      <p:sp>
        <p:nvSpPr>
          <p:cNvPr id="100102" name="S1"/>
          <p:cNvSpPr txBox="1"/>
          <p:nvPr/>
        </p:nvSpPr>
        <p:spPr>
          <a:xfrm xmlns:a="http://schemas.openxmlformats.org/drawingml/2006/main">
            <a:off x="6120000" y="1332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✅  RAG with ChromaDB grounds every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response in verified medical documents</a:t>
            </a:r>
          </a:p>
        </p:txBody>
      </p:sp>
      <p:sp>
        <p:nvSpPr>
          <p:cNvPr id="100103" name="C2"/>
          <p:cNvSpPr txBox="1"/>
          <p:nvPr/>
        </p:nvSpPr>
        <p:spPr>
          <a:xfrm xmlns:a="http://schemas.openxmlformats.org/drawingml/2006/main">
            <a:off x="180000" y="2160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❌  Rural users speak 10+ languages,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most NLP models are English-only</a:t>
            </a:r>
          </a:p>
        </p:txBody>
      </p:sp>
      <p:sp>
        <p:nvSpPr>
          <p:cNvPr id="100104" name="S2"/>
          <p:cNvSpPr txBox="1"/>
          <p:nvPr/>
        </p:nvSpPr>
        <p:spPr>
          <a:xfrm xmlns:a="http://schemas.openxmlformats.org/drawingml/2006/main">
            <a:off x="6120000" y="2160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✅  Groq LLaMA 3.1 translation pipeline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automatically handles all Indian languages</a:t>
            </a:r>
          </a:p>
        </p:txBody>
      </p:sp>
      <p:sp>
        <p:nvSpPr>
          <p:cNvPr id="100105" name="C3"/>
          <p:cNvSpPr txBox="1"/>
          <p:nvPr/>
        </p:nvSpPr>
        <p:spPr>
          <a:xfrm xmlns:a="http://schemas.openxmlformats.org/drawingml/2006/main">
            <a:off x="180000" y="2988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❌  No internet in many villages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→ cloud-only apps are useless</a:t>
            </a:r>
          </a:p>
        </p:txBody>
      </p:sp>
      <p:sp>
        <p:nvSpPr>
          <p:cNvPr id="100106" name="S3"/>
          <p:cNvSpPr txBox="1"/>
          <p:nvPr/>
        </p:nvSpPr>
        <p:spPr>
          <a:xfrm xmlns:a="http://schemas.openxmlformats.org/drawingml/2006/main">
            <a:off x="6120000" y="2988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✅  Mock Mode — fully offline rule-based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agent, zero API keys needed</a:t>
            </a:r>
          </a:p>
        </p:txBody>
      </p:sp>
      <p:sp>
        <p:nvSpPr>
          <p:cNvPr id="100107" name="C4"/>
          <p:cNvSpPr txBox="1"/>
          <p:nvPr/>
        </p:nvSpPr>
        <p:spPr>
          <a:xfrm xmlns:a="http://schemas.openxmlformats.org/drawingml/2006/main">
            <a:off x="180000" y="3816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❌  Heavy ML models (&gt;4GB) crash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on low-RAM deployment servers</a:t>
            </a:r>
          </a:p>
        </p:txBody>
      </p:sp>
      <p:sp>
        <p:nvSpPr>
          <p:cNvPr id="100108" name="S4"/>
          <p:cNvSpPr txBox="1"/>
          <p:nvPr/>
        </p:nvSpPr>
        <p:spPr>
          <a:xfrm xmlns:a="http://schemas.openxmlformats.org/drawingml/2006/main">
            <a:off x="6120000" y="3816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✅  Lightweight sentence-transformers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(all-MiniLM-L6-v2, only 80MB)</a:t>
            </a:r>
          </a:p>
        </p:txBody>
      </p:sp>
      <p:sp>
        <p:nvSpPr>
          <p:cNvPr id="100109" name="C5"/>
          <p:cNvSpPr txBox="1"/>
          <p:nvPr/>
        </p:nvSpPr>
        <p:spPr>
          <a:xfrm xmlns:a="http://schemas.openxmlformats.org/drawingml/2006/main">
            <a:off x="180000" y="4644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❌  Users can't type — low literacy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FFAAAA"/>
                </a:solidFill>
              </a:rPr>
              <a:t>and physical disability barriers</a:t>
            </a:r>
          </a:p>
        </p:txBody>
      </p:sp>
      <p:sp>
        <p:nvSpPr>
          <p:cNvPr id="100110" name="S5"/>
          <p:cNvSpPr txBox="1"/>
          <p:nvPr/>
        </p:nvSpPr>
        <p:spPr>
          <a:xfrm xmlns:a="http://schemas.openxmlformats.org/drawingml/2006/main">
            <a:off x="6120000" y="4644000"/>
            <a:ext cx="54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✅  Groq Whisper STT supports voice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AFFAA"/>
                </a:solidFill>
              </a:rPr>
              <a:t>input in any Indian language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1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100112" name="FS1"/>
          <p:cNvSpPr txBox="1"/>
          <p:nvPr/>
        </p:nvSpPr>
        <p:spPr>
          <a:xfrm xmlns:a="http://schemas.openxmlformats.org/drawingml/2006/main">
            <a:off x="180000" y="1008000"/>
            <a:ext cx="27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📱  WhatsApp Bot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(Already Built!)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Twilio integration is live.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Deploy to reach users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who have no smartphone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but have WhatsApp.</a:t>
            </a:r>
          </a:p>
        </p:txBody>
      </p:sp>
      <p:sp>
        <p:nvSpPr>
          <p:cNvPr id="100113" name="FS2"/>
          <p:cNvSpPr txBox="1"/>
          <p:nvPr/>
        </p:nvSpPr>
        <p:spPr>
          <a:xfrm xmlns:a="http://schemas.openxmlformats.org/drawingml/2006/main">
            <a:off x="3240000" y="1008000"/>
            <a:ext cx="27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🏥  ASHA Worker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Dashboard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Dedicated portal for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frontline health workers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with patient tracking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and alert management.</a:t>
            </a:r>
          </a:p>
        </p:txBody>
      </p:sp>
      <p:sp>
        <p:nvSpPr>
          <p:cNvPr id="100114" name="FS3"/>
          <p:cNvSpPr txBox="1"/>
          <p:nvPr/>
        </p:nvSpPr>
        <p:spPr>
          <a:xfrm xmlns:a="http://schemas.openxmlformats.org/drawingml/2006/main">
            <a:off x="6300000" y="1008000"/>
            <a:ext cx="27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📵  Offline Mobile App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React Native / Flutter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app with embedded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mini-LLM for zero-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connectivity areas.</a:t>
            </a:r>
          </a:p>
        </p:txBody>
      </p:sp>
      <p:sp>
        <p:nvSpPr>
          <p:cNvPr id="100115" name="FS4"/>
          <p:cNvSpPr txBox="1"/>
          <p:nvPr/>
        </p:nvSpPr>
        <p:spPr>
          <a:xfrm xmlns:a="http://schemas.openxmlformats.org/drawingml/2006/main">
            <a:off x="9360000" y="1008000"/>
            <a:ext cx="27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🇮🇳  Govt. Scheme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Integration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Ayushman Bharat,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Janani Suraksha Yojana,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NHM scheme lookup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built into responses.</a:t>
            </a:r>
          </a:p>
        </p:txBody>
      </p:sp>
      <p:sp>
        <p:nvSpPr>
          <p:cNvPr id="100116" name="FS5"/>
          <p:cNvSpPr txBox="1"/>
          <p:nvPr/>
        </p:nvSpPr>
        <p:spPr>
          <a:xfrm xmlns:a="http://schemas.openxmlformats.org/drawingml/2006/main">
            <a:off x="180000" y="378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🌐  22 Languages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Expand from 10 to all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22 scheduled Indian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languages including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Urdu, Odia, Assamese.</a:t>
            </a:r>
          </a:p>
        </p:txBody>
      </p:sp>
      <p:sp>
        <p:nvSpPr>
          <p:cNvPr id="100117" name="FS6"/>
          <p:cNvSpPr txBox="1"/>
          <p:nvPr/>
        </p:nvSpPr>
        <p:spPr>
          <a:xfrm xmlns:a="http://schemas.openxmlformats.org/drawingml/2006/main">
            <a:off x="4140000" y="378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🤝  NGO &amp; PHC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Partnerships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Deploy at Primary Health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Centres and partner with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health NGOs for last-mile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distribution.</a:t>
            </a:r>
          </a:p>
        </p:txBody>
      </p:sp>
      <p:sp>
        <p:nvSpPr>
          <p:cNvPr id="100118" name="FS7"/>
          <p:cNvSpPr txBox="1"/>
          <p:nvPr/>
        </p:nvSpPr>
        <p:spPr>
          <a:xfrm xmlns:a="http://schemas.openxmlformats.org/drawingml/2006/main">
            <a:off x="8100000" y="378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📡  SMS Fallback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For users with no data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plan — 2G SMS based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query-response system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11111"/>
                </a:solidFill>
              </a:rPr>
              <a:t>via Twilio SMS API.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119" name="Title"/>
          <p:cNvSpPr txBox="1"/>
          <p:nvPr/>
        </p:nvSpPr>
        <p:spPr>
          <a:xfrm xmlns:a="http://schemas.openxmlformats.org/drawingml/2006/main">
            <a:off x="540000" y="1080000"/>
            <a:ext cx="10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120" name="Tagline"/>
          <p:cNvSpPr txBox="1"/>
          <p:nvPr/>
        </p:nvSpPr>
        <p:spPr>
          <a:xfrm xmlns:a="http://schemas.openxmlformats.org/drawingml/2006/main">
            <a:off x="540000" y="234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7EC8E3"/>
                </a:solidFill>
              </a:rPr>
              <a:t>"Technology should speak your language"</a:t>
            </a:r>
          </a:p>
        </p:txBody>
      </p:sp>
      <p:sp>
        <p:nvSpPr>
          <p:cNvPr id="100121" name="Divider"/>
          <p:cNvSpPr txBox="1"/>
          <p:nvPr/>
        </p:nvSpPr>
        <p:spPr>
          <a:xfrm xmlns:a="http://schemas.openxmlformats.org/drawingml/2006/main">
            <a:off x="2880000" y="2988000"/>
            <a:ext cx="61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A7BD5"/>
                </a:solidFill>
              </a:rPr>
              <a:t>━━━━━━━━━━━━━━━━━━━━━━━━</a:t>
            </a:r>
          </a:p>
        </p:txBody>
      </p:sp>
      <p:sp>
        <p:nvSpPr>
          <p:cNvPr id="100122" name="Team"/>
          <p:cNvSpPr txBox="1"/>
          <p:nvPr/>
        </p:nvSpPr>
        <p:spPr>
          <a:xfrm xmlns:a="http://schemas.openxmlformats.org/drawingml/2006/main">
            <a:off x="540000" y="3420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👥  TEAM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[Your Name]  —  [Role]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[Teammate Name]  —  [Role]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[College / Institution]</a:t>
            </a:r>
          </a:p>
        </p:txBody>
      </p:sp>
      <p:sp>
        <p:nvSpPr>
          <p:cNvPr id="100123" name="Links"/>
          <p:cNvSpPr txBox="1"/>
          <p:nvPr/>
        </p:nvSpPr>
        <p:spPr>
          <a:xfrm xmlns:a="http://schemas.openxmlformats.org/drawingml/2006/main">
            <a:off x="6120000" y="3420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🔗  LINKS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GitHub: github.com/Jananikotyan/IBM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Backend API: /health endpoint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Frontend: Streamlit UI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ECBFA"/>
                </a:solidFill>
              </a:rPr>
              <a:t>Docs: /docs (Swagger)</a:t>
            </a:r>
          </a:p>
        </p:txBody>
      </p:sp>
      <p:sp>
        <p:nvSpPr>
          <p:cNvPr id="100124" name="Emergency"/>
          <p:cNvSpPr txBox="1"/>
          <p:nvPr/>
        </p:nvSpPr>
        <p:spPr>
          <a:xfrm xmlns:a="http://schemas.openxmlformats.org/drawingml/2006/main">
            <a:off x="540000" y="522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0A2342"/>
                </a:solidFill>
              </a:rPr>
              <a:t>🏥  Emergency: 108   |   Health Helpline: 104   |   Sehat Saathi: Free, 24/7, Your Language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147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</a:rPr>
              <a:t>TECH STACK — How It All Connects</a:t>
            </a:r>
          </a:p>
        </p:txBody>
      </p:sp>
      <p:sp>
        <p:nvSpPr>
          <p:cNvPr id="100148" name="L1"/>
          <p:cNvSpPr txBox="1"/>
          <p:nvPr/>
        </p:nvSpPr>
        <p:spPr>
          <a:xfrm xmlns:a="http://schemas.openxmlformats.org/drawingml/2006/main">
            <a:off x="108000" y="900000"/>
            <a:ext cx="21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7EC8E3"/>
                </a:solidFill>
              </a:rPr>
              <a:t>INPUT LAYER</a:t>
            </a:r>
          </a:p>
        </p:txBody>
      </p:sp>
      <p:sp>
        <p:nvSpPr>
          <p:cNvPr id="100149" name="I1"/>
          <p:cNvSpPr txBox="1"/>
          <p:nvPr/>
        </p:nvSpPr>
        <p:spPr>
          <a:xfrm xmlns:a="http://schemas.openxmlformats.org/drawingml/2006/main">
            <a:off x="108000" y="1188000"/>
            <a:ext cx="9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⌨️ Text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100150" name="I2"/>
          <p:cNvSpPr txBox="1"/>
          <p:nvPr/>
        </p:nvSpPr>
        <p:spPr>
          <a:xfrm xmlns:a="http://schemas.openxmlformats.org/drawingml/2006/main">
            <a:off x="1188000" y="1188000"/>
            <a:ext cx="9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🎙️ Voice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(Whisper)</a:t>
            </a:r>
          </a:p>
        </p:txBody>
      </p:sp>
      <p:sp>
        <p:nvSpPr>
          <p:cNvPr id="100151" name="A1"/>
          <p:cNvSpPr txBox="1"/>
          <p:nvPr/>
        </p:nvSpPr>
        <p:spPr>
          <a:xfrm xmlns:a="http://schemas.openxmlformats.org/drawingml/2006/main">
            <a:off x="2340000" y="1440000"/>
            <a:ext cx="3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7EC8E3"/>
                </a:solidFill>
              </a:rPr>
              <a:t>▶</a:t>
            </a:r>
          </a:p>
        </p:txBody>
      </p:sp>
      <p:sp>
        <p:nvSpPr>
          <p:cNvPr id="100152" name="L2"/>
          <p:cNvSpPr txBox="1"/>
          <p:nvPr/>
        </p:nvSpPr>
        <p:spPr>
          <a:xfrm xmlns:a="http://schemas.openxmlformats.org/drawingml/2006/main">
            <a:off x="2700000" y="900000"/>
            <a:ext cx="21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7EC8E3"/>
                </a:solidFill>
              </a:rPr>
              <a:t>FRONTEND</a:t>
            </a:r>
          </a:p>
        </p:txBody>
      </p:sp>
      <p:sp>
        <p:nvSpPr>
          <p:cNvPr id="100153" name="F1"/>
          <p:cNvSpPr txBox="1"/>
          <p:nvPr/>
        </p:nvSpPr>
        <p:spPr>
          <a:xfrm xmlns:a="http://schemas.openxmlformats.org/drawingml/2006/main">
            <a:off x="2700000" y="1188000"/>
            <a:ext cx="9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A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🖥️ Streamlit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Chat UI</a:t>
            </a:r>
          </a:p>
        </p:txBody>
      </p:sp>
      <p:sp>
        <p:nvSpPr>
          <p:cNvPr id="100154" name="F2"/>
          <p:cNvSpPr txBox="1"/>
          <p:nvPr/>
        </p:nvSpPr>
        <p:spPr>
          <a:xfrm xmlns:a="http://schemas.openxmlformats.org/drawingml/2006/main">
            <a:off x="3780000" y="1188000"/>
            <a:ext cx="9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A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📊 Analytics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00155" name="A2"/>
          <p:cNvSpPr txBox="1"/>
          <p:nvPr/>
        </p:nvSpPr>
        <p:spPr>
          <a:xfrm xmlns:a="http://schemas.openxmlformats.org/drawingml/2006/main">
            <a:off x="4860000" y="1440000"/>
            <a:ext cx="3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7EC8E3"/>
                </a:solidFill>
              </a:rPr>
              <a:t>▶</a:t>
            </a:r>
          </a:p>
        </p:txBody>
      </p:sp>
      <p:sp>
        <p:nvSpPr>
          <p:cNvPr id="100156" name="L3"/>
          <p:cNvSpPr txBox="1"/>
          <p:nvPr/>
        </p:nvSpPr>
        <p:spPr>
          <a:xfrm xmlns:a="http://schemas.openxmlformats.org/drawingml/2006/main">
            <a:off x="5220000" y="900000"/>
            <a:ext cx="21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7EC8E3"/>
                </a:solidFill>
              </a:rPr>
              <a:t>BACKEND</a:t>
            </a:r>
          </a:p>
        </p:txBody>
      </p:sp>
      <p:sp>
        <p:nvSpPr>
          <p:cNvPr id="100157" name="B1"/>
          <p:cNvSpPr txBox="1"/>
          <p:nvPr/>
        </p:nvSpPr>
        <p:spPr>
          <a:xfrm xmlns:a="http://schemas.openxmlformats.org/drawingml/2006/main">
            <a:off x="5220000" y="1188000"/>
            <a:ext cx="9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A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⚙️ FastAPI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+ Uvicorn</a:t>
            </a:r>
          </a:p>
        </p:txBody>
      </p:sp>
      <p:sp>
        <p:nvSpPr>
          <p:cNvPr id="100158" name="B2"/>
          <p:cNvSpPr txBox="1"/>
          <p:nvPr/>
        </p:nvSpPr>
        <p:spPr>
          <a:xfrm xmlns:a="http://schemas.openxmlformats.org/drawingml/2006/main">
            <a:off x="6300000" y="1188000"/>
            <a:ext cx="9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A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🔗 LangChain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159" name="A3"/>
          <p:cNvSpPr txBox="1"/>
          <p:nvPr/>
        </p:nvSpPr>
        <p:spPr>
          <a:xfrm xmlns:a="http://schemas.openxmlformats.org/drawingml/2006/main">
            <a:off x="7380000" y="1440000"/>
            <a:ext cx="3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7EC8E3"/>
                </a:solidFill>
              </a:rPr>
              <a:t>▶</a:t>
            </a:r>
          </a:p>
        </p:txBody>
      </p:sp>
      <p:sp>
        <p:nvSpPr>
          <p:cNvPr id="100160" name="L4"/>
          <p:cNvSpPr txBox="1"/>
          <p:nvPr/>
        </p:nvSpPr>
        <p:spPr>
          <a:xfrm xmlns:a="http://schemas.openxmlformats.org/drawingml/2006/main">
            <a:off x="7740000" y="900000"/>
            <a:ext cx="41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7EC8E3"/>
                </a:solidFill>
              </a:rPr>
              <a:t>AI / LLM LAYER</a:t>
            </a:r>
          </a:p>
        </p:txBody>
      </p:sp>
      <p:sp>
        <p:nvSpPr>
          <p:cNvPr id="100161" name="AI1"/>
          <p:cNvSpPr txBox="1"/>
          <p:nvPr/>
        </p:nvSpPr>
        <p:spPr>
          <a:xfrm xmlns:a="http://schemas.openxmlformats.org/drawingml/2006/main">
            <a:off x="7740000" y="1188000"/>
            <a:ext cx="1188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A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🤖 Mock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Agent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(Offline)</a:t>
            </a:r>
          </a:p>
        </p:txBody>
      </p:sp>
      <p:sp>
        <p:nvSpPr>
          <p:cNvPr id="100162" name="AI2"/>
          <p:cNvSpPr txBox="1"/>
          <p:nvPr/>
        </p:nvSpPr>
        <p:spPr>
          <a:xfrm xmlns:a="http://schemas.openxmlformats.org/drawingml/2006/main">
            <a:off x="9072000" y="1188000"/>
            <a:ext cx="1188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A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🦙 Groq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LLaMA 3.1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(Translate)</a:t>
            </a:r>
          </a:p>
        </p:txBody>
      </p:sp>
      <p:sp>
        <p:nvSpPr>
          <p:cNvPr id="100163" name="AI3"/>
          <p:cNvSpPr txBox="1"/>
          <p:nvPr/>
        </p:nvSpPr>
        <p:spPr>
          <a:xfrm xmlns:a="http://schemas.openxmlformats.org/drawingml/2006/main">
            <a:off x="10404000" y="1188000"/>
            <a:ext cx="16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A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🔊 Groq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Whisper</a:t>
            </a:r>
          </a:p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</a:rPr>
              <a:t>(STT)</a:t>
            </a:r>
          </a:p>
        </p:txBody>
      </p:sp>
      <p:sp>
        <p:nvSpPr>
          <p:cNvPr id="100164" name="DownA"/>
          <p:cNvSpPr txBox="1"/>
          <p:nvPr/>
        </p:nvSpPr>
        <p:spPr>
          <a:xfrm xmlns:a="http://schemas.openxmlformats.org/drawingml/2006/main">
            <a:off x="5940000" y="2016000"/>
            <a:ext cx="3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7EC8E3"/>
                </a:solidFill>
              </a:rPr>
              <a:t>▼</a:t>
            </a:r>
          </a:p>
        </p:txBody>
      </p:sp>
      <p:sp>
        <p:nvSpPr>
          <p:cNvPr id="100165" name="L5"/>
          <p:cNvSpPr txBox="1"/>
          <p:nvPr/>
        </p:nvSpPr>
        <p:spPr>
          <a:xfrm xmlns:a="http://schemas.openxmlformats.org/drawingml/2006/main">
            <a:off x="2520000" y="2448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7EC8E3"/>
                </a:solidFill>
              </a:rPr>
              <a:t>DATA LAYER</a:t>
            </a:r>
          </a:p>
        </p:txBody>
      </p:sp>
      <p:sp>
        <p:nvSpPr>
          <p:cNvPr id="100166" name="D1"/>
          <p:cNvSpPr txBox="1"/>
          <p:nvPr/>
        </p:nvSpPr>
        <p:spPr>
          <a:xfrm xmlns:a="http://schemas.openxmlformats.org/drawingml/2006/main">
            <a:off x="2520000" y="2772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🗄️ ChromaDB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Vector Store</a:t>
            </a:r>
          </a:p>
        </p:txBody>
      </p:sp>
      <p:sp>
        <p:nvSpPr>
          <p:cNvPr id="100167" name="D2"/>
          <p:cNvSpPr txBox="1"/>
          <p:nvPr/>
        </p:nvSpPr>
        <p:spPr>
          <a:xfrm xmlns:a="http://schemas.openxmlformats.org/drawingml/2006/main">
            <a:off x="4680000" y="2772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📚 Knowledge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Base (PDF/TXT)</a:t>
            </a:r>
          </a:p>
        </p:txBody>
      </p:sp>
      <p:sp>
        <p:nvSpPr>
          <p:cNvPr id="100168" name="D3"/>
          <p:cNvSpPr txBox="1"/>
          <p:nvPr/>
        </p:nvSpPr>
        <p:spPr>
          <a:xfrm xmlns:a="http://schemas.openxmlformats.org/drawingml/2006/main">
            <a:off x="6840000" y="2772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🧮 FAISS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00169" name="D4"/>
          <p:cNvSpPr txBox="1"/>
          <p:nvPr/>
        </p:nvSpPr>
        <p:spPr>
          <a:xfrm xmlns:a="http://schemas.openxmlformats.org/drawingml/2006/main">
            <a:off x="9000000" y="2772000"/>
            <a:ext cx="28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🔤 sentence-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transformers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(Embeddings)</a:t>
            </a:r>
          </a:p>
        </p:txBody>
      </p:sp>
      <p:sp>
        <p:nvSpPr>
          <p:cNvPr id="100170" name="Legend"/>
          <p:cNvSpPr txBox="1"/>
          <p:nvPr/>
        </p:nvSpPr>
        <p:spPr>
          <a:xfrm xmlns:a="http://schemas.openxmlformats.org/drawingml/2006/main">
            <a:off x="360000" y="3960000"/>
            <a:ext cx="111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ECBFA"/>
                </a:solidFill>
              </a:rPr>
              <a:t>🔵 Core Components      🟦 AI / Cloud APIs      🟫 Data &amp; Storage      ▶ Data Flow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71" name="Heade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</a:rPr>
              <a:t>SYSTEM ARCHITECTURE — End-to-End Flow</a:t>
            </a:r>
          </a:p>
        </p:txBody>
      </p:sp>
      <p:sp>
        <p:nvSpPr>
          <p:cNvPr id="100172" name="Step1"/>
          <p:cNvSpPr txBox="1"/>
          <p:nvPr/>
        </p:nvSpPr>
        <p:spPr>
          <a:xfrm xmlns:a="http://schemas.openxmlformats.org/drawingml/2006/main">
            <a:off x="108000" y="1080000"/>
            <a:ext cx="16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</a:rPr>
              <a:t>👤 USER</a:t>
            </a:r>
          </a:p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</a:rPr>
              <a:t>Types Hindi /</a:t>
            </a:r>
          </a:p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</a:rPr>
              <a:t>Speaks Tamil</a:t>
            </a:r>
          </a:p>
        </p:txBody>
      </p:sp>
      <p:sp>
        <p:nvSpPr>
          <p:cNvPr id="100173" name="Arr1"/>
          <p:cNvSpPr txBox="1"/>
          <p:nvPr/>
        </p:nvSpPr>
        <p:spPr>
          <a:xfrm xmlns:a="http://schemas.openxmlformats.org/drawingml/2006/main">
            <a:off x="1800000" y="180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3A7BD5"/>
                </a:solidFill>
              </a:rPr>
              <a:t>▶</a:t>
            </a:r>
          </a:p>
        </p:txBody>
      </p:sp>
      <p:sp>
        <p:nvSpPr>
          <p:cNvPr id="100174" name="Step2"/>
          <p:cNvSpPr txBox="1"/>
          <p:nvPr/>
        </p:nvSpPr>
        <p:spPr>
          <a:xfrm xmlns:a="http://schemas.openxmlformats.org/drawingml/2006/main">
            <a:off x="2232000" y="1080000"/>
            <a:ext cx="16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B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🔍 LANGUAGE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DETECTION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Auto-detect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100175" name="Arr2"/>
          <p:cNvSpPr txBox="1"/>
          <p:nvPr/>
        </p:nvSpPr>
        <p:spPr>
          <a:xfrm xmlns:a="http://schemas.openxmlformats.org/drawingml/2006/main">
            <a:off x="3924000" y="180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3A7BD5"/>
                </a:solidFill>
              </a:rPr>
              <a:t>▶</a:t>
            </a:r>
          </a:p>
        </p:txBody>
      </p:sp>
      <p:sp>
        <p:nvSpPr>
          <p:cNvPr id="100176" name="Step3"/>
          <p:cNvSpPr txBox="1"/>
          <p:nvPr/>
        </p:nvSpPr>
        <p:spPr>
          <a:xfrm xmlns:a="http://schemas.openxmlformats.org/drawingml/2006/main">
            <a:off x="4356000" y="1080000"/>
            <a:ext cx="16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33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🚨 EMERGENCY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CHECK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Red-flag keyword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triage</a:t>
            </a:r>
          </a:p>
        </p:txBody>
      </p:sp>
      <p:sp>
        <p:nvSpPr>
          <p:cNvPr id="100177" name="Arr3"/>
          <p:cNvSpPr txBox="1"/>
          <p:nvPr/>
        </p:nvSpPr>
        <p:spPr>
          <a:xfrm xmlns:a="http://schemas.openxmlformats.org/drawingml/2006/main">
            <a:off x="6048000" y="180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3A7BD5"/>
                </a:solidFill>
              </a:rPr>
              <a:t>▶</a:t>
            </a:r>
          </a:p>
        </p:txBody>
      </p:sp>
      <p:sp>
        <p:nvSpPr>
          <p:cNvPr id="100178" name="Step4"/>
          <p:cNvSpPr txBox="1"/>
          <p:nvPr/>
        </p:nvSpPr>
        <p:spPr>
          <a:xfrm xmlns:a="http://schemas.openxmlformats.org/drawingml/2006/main">
            <a:off x="6480000" y="1080000"/>
            <a:ext cx="16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🗄️ RAG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RETRIEVAL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ChromaDB semantic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100179" name="Arr4"/>
          <p:cNvSpPr txBox="1"/>
          <p:nvPr/>
        </p:nvSpPr>
        <p:spPr>
          <a:xfrm xmlns:a="http://schemas.openxmlformats.org/drawingml/2006/main">
            <a:off x="8172000" y="180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3A7BD5"/>
                </a:solidFill>
              </a:rPr>
              <a:t>▶</a:t>
            </a:r>
          </a:p>
        </p:txBody>
      </p:sp>
      <p:sp>
        <p:nvSpPr>
          <p:cNvPr id="100180" name="Step5"/>
          <p:cNvSpPr txBox="1"/>
          <p:nvPr/>
        </p:nvSpPr>
        <p:spPr>
          <a:xfrm xmlns:a="http://schemas.openxmlformats.org/drawingml/2006/main">
            <a:off x="8604000" y="1080000"/>
            <a:ext cx="16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5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🤖 LLM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RESPONSE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Groq LLaMA /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</a:rPr>
              <a:t>Mock Agent</a:t>
            </a:r>
          </a:p>
        </p:txBody>
      </p:sp>
      <p:sp>
        <p:nvSpPr>
          <p:cNvPr id="100181" name="Arr5"/>
          <p:cNvSpPr txBox="1"/>
          <p:nvPr/>
        </p:nvSpPr>
        <p:spPr>
          <a:xfrm xmlns:a="http://schemas.openxmlformats.org/drawingml/2006/main">
            <a:off x="10296000" y="180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3A7BD5"/>
                </a:solidFill>
              </a:rPr>
              <a:t>▶</a:t>
            </a:r>
          </a:p>
        </p:txBody>
      </p:sp>
      <p:sp>
        <p:nvSpPr>
          <p:cNvPr id="100182" name="Step6"/>
          <p:cNvSpPr txBox="1"/>
          <p:nvPr/>
        </p:nvSpPr>
        <p:spPr>
          <a:xfrm xmlns:a="http://schemas.openxmlformats.org/drawingml/2006/main">
            <a:off x="10728000" y="1080000"/>
            <a:ext cx="14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6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🌐 TRANSLATE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&amp; REPLY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Groq LLaMA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back to Hindi</a:t>
            </a:r>
          </a:p>
        </p:txBody>
      </p:sp>
      <p:sp>
        <p:nvSpPr>
          <p:cNvPr id="100183" name="EmergBranch"/>
          <p:cNvSpPr txBox="1"/>
          <p:nvPr/>
        </p:nvSpPr>
        <p:spPr>
          <a:xfrm xmlns:a="http://schemas.openxmlformats.org/drawingml/2006/main">
            <a:off x="1080000" y="3312000"/>
            <a:ext cx="97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33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🚨 If Emergency Detected: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→ Skip LLM  →  Show 'CALL 108 NOW'  →  Open nearest hospital on map</a:t>
            </a:r>
          </a:p>
        </p:txBody>
      </p:sp>
      <p:sp>
        <p:nvSpPr>
          <p:cNvPr id="100184" name="NormalBranch"/>
          <p:cNvSpPr txBox="1"/>
          <p:nvPr/>
        </p:nvSpPr>
        <p:spPr>
          <a:xfrm xmlns:a="http://schemas.openxmlformats.org/drawingml/2006/main">
            <a:off x="1080000" y="3960000"/>
            <a:ext cx="97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0A2342"/>
                </a:solidFill>
              </a:rPr>
              <a:t>✅ Normal Query Path: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0A2342"/>
                </a:solidFill>
              </a:rPr>
              <a:t>User Input  →  Detect Language  →  RAG Retrieval  →  LLM Generate  →  Translate Back  →  Show Response</a:t>
            </a:r>
          </a:p>
        </p:txBody>
      </p:sp>
      <p:sp>
        <p:nvSpPr>
          <p:cNvPr id="100185" name="Analytics"/>
          <p:cNvSpPr txBox="1"/>
          <p:nvPr/>
        </p:nvSpPr>
        <p:spPr>
          <a:xfrm xmlns:a="http://schemas.openxmlformats.org/drawingml/2006/main">
            <a:off x="1080000" y="4680000"/>
            <a:ext cx="97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6B2A"/>
                </a:solidFill>
              </a:rPr>
              <a:t>📊 All queries → Analytics Tracker → Disease Heatmap + Usage Dashboard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2026-09-08T06:42:07Z</dcterms:created>
  <cp:lastModifiedBy>OfficeCLI</cp:lastModifiedBy>
  <dcterms:modified xsi:type="dcterms:W3CDTF">2026-09-08T06:42:07Z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2026-09-08T07:04:29Z</vt:lpwstr>
  </op:property>
</op:Properties>
</file>